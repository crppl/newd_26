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60" r:id="rId5"/>
    <p:sldId id="259" r:id="rId6"/>
    <p:sldId id="261" r:id="rId7"/>
    <p:sldId id="268" r:id="rId8"/>
    <p:sldId id="262" r:id="rId9"/>
    <p:sldId id="263" r:id="rId10"/>
    <p:sldId id="264" r:id="rId11"/>
    <p:sldId id="265" r:id="rId12"/>
    <p:sldId id="258" r:id="rId13"/>
    <p:sldId id="266" r:id="rId14"/>
    <p:sldId id="267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14AC9-1AA5-4245-87CE-523CA0B5C7EB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0888F-B758-4C3E-B048-6153DEC37E6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19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Szczecin, Koszalin, Świnoujście, Kołobrzeg, wiele miast i mieścin przybrzeżnych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0888F-B758-4C3E-B048-6153DEC37E64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768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Szczecin, Koszalin, Świnoujście, Kołobrzeg, wiele miast i mieścin przybrzeżnych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0888F-B758-4C3E-B048-6153DEC37E64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979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091950-CCD3-5DC6-9D1F-8F22CB04D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19F1B77-DBA5-B899-9371-497F3C981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5672C16-792C-2E9C-017A-82ACC14A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00639EA-46E0-87F9-942D-A706C98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A02052-3F60-C55D-A0B7-D2E57EEF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77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A2FAFA-CC9C-2B45-A77B-9E753C13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685343-AEDE-B814-5BA1-1E0A23BB8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DE2ECA-A1F9-98E8-C00A-06C1C7050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B56846A-1B87-CC7E-7CAC-5BA1CF56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22C37D4-12FB-A0CF-DA76-D132283C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313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613EB6-D2B5-4E38-A206-501E9D8E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355F62D-E665-2E66-36FF-7F428E2C1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85B072C-FB82-C716-B2D5-464DCDEC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5C07B16-42DF-DD86-396C-BA81D6C0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F78A130-DA4A-A783-6E69-28FAA7D6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771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2273CE-4DAE-E827-261E-7C3DDB5F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37D8C3-95D4-D72E-DE41-55E3B7491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73B812B-6299-ADD6-DC4A-D5CD59D02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C687E7F-6F24-E1A9-6217-C596BC6B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33115D6-C847-E2EB-5A6A-88E17A84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EBC070B-9553-7F8E-A9C1-87EE607C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063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EC315A-B727-A64F-39C8-211800BD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BFA6A0E-35B7-41B5-9284-36DD32FD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CACB85B-8C69-52ED-2863-5E9C0B73F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8C63F1E-2933-F1C3-6E44-25D7449BD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F2E5469-92E5-7879-C69D-13A6C6913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011B085-E1B5-BE3B-801F-7BAC493C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310E263-AE6E-717B-DF1F-F6481069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B2F2194-C2F5-F7F0-B104-C60E0D9B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6806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8414B7-931D-8D05-EFE3-4867655C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2FFE687-3A6C-8239-EC68-EED37CFF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182F2B5-71E6-6695-D4B5-EA223C7F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2F77558-9C65-02CF-ACCD-B9567EF9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581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F1421BF-14CB-2265-29C0-2B3E2F78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A2BDEA3-AA00-1024-2201-5510B2B8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641FA28-9E50-7690-02F9-72909EA9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885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2471D6-230B-F80B-6356-411C14D2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9DBA1F-7C43-D2CD-B315-474317CFD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50218DC-C0ED-9417-4266-1A9C80C2E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4703245-495A-3B9E-D379-62BA7691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34FD91-F1C0-3814-262B-4B920EB8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F8A86DD-5C32-6A50-96C4-3A66EB81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077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87A350-B2C2-37CF-E497-CF540F61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188ECF47-FFCB-E5B8-77BF-522C12746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7687EA2-E1C6-1F3D-8D55-CA14F7BB9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C09E0B9-0FFD-7C6D-7436-5598A5C5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F7A6C3A-50D5-62E1-4102-2CD8DCB3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160B387-D3CA-80EB-343D-354EE98C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205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BC6A31-F0E0-47BC-84EB-D2C5395B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C61F6AC-DC5A-9553-10AC-08F43AACB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733DAC9-429C-C6E1-1697-49F65302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561458F-FB87-B3BE-A5E1-9CC3C4F3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B765CE8-2BA0-AD10-87F0-706DE279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867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198A760-3F1F-F1FD-EC40-0298DA803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D3E08C9-1B12-65FF-A97D-F6698E7BE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17DF12-51B2-F8A1-937F-185602BE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42FE128-78BE-86F7-6C92-130BFFA8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40AB561-D645-10CC-BBA4-2C3DB308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952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F2AFF13-A769-709B-9B8B-397C8B9DD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38B062-324C-6B93-C1AD-DE6CC8DDC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BED2C2-6C63-EF6E-6E0F-EF2FB6D58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3F489-0E25-4564-98A5-327ED85E61EF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7542E-45D2-45B5-EC89-DC3C614F6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70CE1F-DF58-CAC3-B686-62DCBEDA9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BA92B-1C92-486B-97D4-0089690995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522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4E6E63-0633-23CC-8DBB-3DBE635C8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41909"/>
            <a:ext cx="9144000" cy="2387600"/>
          </a:xfrm>
        </p:spPr>
        <p:txBody>
          <a:bodyPr>
            <a:normAutofit/>
          </a:bodyPr>
          <a:lstStyle/>
          <a:p>
            <a:r>
              <a:rPr lang="pl-PL" dirty="0"/>
              <a:t>Noclegi i miejsca do spania </a:t>
            </a:r>
            <a:br>
              <a:rPr lang="pl-PL" dirty="0"/>
            </a:br>
            <a:r>
              <a:rPr lang="pl-PL" dirty="0"/>
              <a:t>dla turystów w Europie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38A601B-B8E3-30C6-C926-9B0088313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965" y="4192242"/>
            <a:ext cx="9766069" cy="1655762"/>
          </a:xfrm>
        </p:spPr>
        <p:txBody>
          <a:bodyPr>
            <a:normAutofit lnSpcReduction="10000"/>
          </a:bodyPr>
          <a:lstStyle/>
          <a:p>
            <a:r>
              <a:rPr lang="pl-PL" sz="1600" dirty="0"/>
              <a:t>Źródło – Eurostat: </a:t>
            </a:r>
            <a:r>
              <a:rPr lang="en-US" sz="1600" dirty="0"/>
              <a:t>Establishments and Bed-places in Tourist Accommodation by </a:t>
            </a:r>
            <a:r>
              <a:rPr lang="en-US" sz="1600" dirty="0" err="1"/>
              <a:t>Urbanisation</a:t>
            </a:r>
            <a:r>
              <a:rPr lang="en-US" sz="1600" dirty="0"/>
              <a:t> &amp; Coastal type</a:t>
            </a:r>
            <a:br>
              <a:rPr lang="pl-PL" sz="1600" dirty="0"/>
            </a:br>
            <a:r>
              <a:rPr lang="pl-PL" sz="1600" dirty="0"/>
              <a:t>Zbiór danych: </a:t>
            </a:r>
            <a:r>
              <a:rPr lang="en-US" sz="1600" dirty="0"/>
              <a:t>tour_cap_nuts2dc__custom_20309338</a:t>
            </a:r>
            <a:br>
              <a:rPr lang="pl-PL" sz="1600" dirty="0"/>
            </a:br>
            <a:r>
              <a:rPr lang="pl-PL" sz="1600" dirty="0"/>
              <a:t>Ostatnia aktualizacja: 25/02/2026</a:t>
            </a:r>
            <a:br>
              <a:rPr lang="pl-PL" sz="1600" dirty="0"/>
            </a:br>
            <a:r>
              <a:rPr lang="pl-PL" sz="1600" dirty="0"/>
              <a:t>Pokrycie: Kraje członkowskie UE, 2012-2024</a:t>
            </a:r>
          </a:p>
          <a:p>
            <a:endParaRPr lang="pl-PL" sz="1600" dirty="0"/>
          </a:p>
          <a:p>
            <a:r>
              <a:rPr lang="pl-PL" sz="1600" dirty="0"/>
              <a:t>Jan Domański, Maciej Kurzydłowski, Jan Machowski</a:t>
            </a:r>
          </a:p>
        </p:txBody>
      </p:sp>
    </p:spTree>
    <p:extLst>
      <p:ext uri="{BB962C8B-B14F-4D97-AF65-F5344CB8AC3E}">
        <p14:creationId xmlns:p14="http://schemas.microsoft.com/office/powerpoint/2010/main" val="400989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7FF372-9581-3AFF-90CE-D9D137EE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pl-PL" dirty="0"/>
              <a:t>Krótki opis pojawiających się pojęć</a:t>
            </a:r>
            <a:r>
              <a:rPr lang="en-US" dirty="0"/>
              <a:t>​</a:t>
            </a:r>
            <a:endParaRPr lang="en-US" b="0" i="0" dirty="0">
              <a:effectLst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BC7ED2-1C72-448B-C290-A9AECC7F1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35" y="1852519"/>
            <a:ext cx="10685929" cy="4351338"/>
          </a:xfrm>
        </p:spPr>
        <p:txBody>
          <a:bodyPr/>
          <a:lstStyle/>
          <a:p>
            <a:pPr algn="just"/>
            <a:r>
              <a:rPr lang="pl-PL" b="1" dirty="0"/>
              <a:t>Placówka noclegowa </a:t>
            </a:r>
            <a:r>
              <a:rPr lang="pl-PL" dirty="0"/>
              <a:t>=&gt; hotele, hostele, pola kempingowe i rekreacyjne;</a:t>
            </a:r>
          </a:p>
          <a:p>
            <a:pPr algn="just"/>
            <a:r>
              <a:rPr lang="pl-PL" b="1" dirty="0"/>
              <a:t>Miejsce do spania</a:t>
            </a:r>
            <a:r>
              <a:rPr lang="pl-PL" dirty="0"/>
              <a:t> =&gt; pełnoprawne miejsce do snu dla jednej osoby – łóżko, rozkładana kanapa.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37472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294F04-F9C9-AB8E-BF38-2D30D4ADD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Informacje o zbiorze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7CF730-BC9B-B61E-C3A8-83696B596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l-PL" dirty="0"/>
              <a:t>Dane zostały zebrane na przestrzeni lat 2012 – 2024;</a:t>
            </a:r>
          </a:p>
          <a:p>
            <a:pPr algn="just"/>
            <a:r>
              <a:rPr lang="pl-PL" dirty="0"/>
              <a:t>W skład danych wchodzi 27 państw Europejskich;</a:t>
            </a:r>
          </a:p>
          <a:p>
            <a:pPr algn="just"/>
            <a:r>
              <a:rPr lang="pl-PL" dirty="0"/>
              <a:t>Dane posiadają granulację względem państw, województw (NUTS2), miast/ przedmieść/ wsi, przybrzeżne/nieprzybrzeżne;</a:t>
            </a:r>
          </a:p>
          <a:p>
            <a:pPr algn="just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45642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E6AF22-1832-965F-8701-ABD110B5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70" y="365125"/>
            <a:ext cx="11195858" cy="1325563"/>
          </a:xfrm>
        </p:spPr>
        <p:txBody>
          <a:bodyPr/>
          <a:lstStyle/>
          <a:p>
            <a:pPr algn="just"/>
            <a:r>
              <a:rPr lang="pl-PL" dirty="0"/>
              <a:t>Kraje z największą liczbą placówek noclegowych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6319436-794E-5319-3A11-97CF11582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102" y="1509739"/>
            <a:ext cx="10135793" cy="525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2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C55103-9F5B-43F3-0FD4-50D900B9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Kraje z największą liczbą miejsc do spania</a:t>
            </a:r>
          </a:p>
        </p:txBody>
      </p:sp>
      <p:pic>
        <p:nvPicPr>
          <p:cNvPr id="11" name="Symbol zastępczy zawartości 10">
            <a:extLst>
              <a:ext uri="{FF2B5EF4-FFF2-40B4-BE49-F238E27FC236}">
                <a16:creationId xmlns:a16="http://schemas.microsoft.com/office/drawing/2014/main" id="{1FB7D0CC-1E03-065E-DEF3-093B5874E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189" y="1627586"/>
            <a:ext cx="9589622" cy="49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2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D67665-0EB1-A742-55D9-90939765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l-PL" dirty="0"/>
              <a:t>Zmiana liczby placówek noclegowych na przestrzeni lat</a:t>
            </a:r>
          </a:p>
        </p:txBody>
      </p:sp>
      <p:pic>
        <p:nvPicPr>
          <p:cNvPr id="21" name="Symbol zastępczy zawartości 20">
            <a:extLst>
              <a:ext uri="{FF2B5EF4-FFF2-40B4-BE49-F238E27FC236}">
                <a16:creationId xmlns:a16="http://schemas.microsoft.com/office/drawing/2014/main" id="{46A6EC33-B434-CA0D-8EBD-9667BCDA3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931" y="1528202"/>
            <a:ext cx="10500869" cy="544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8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E3F075-6C50-797F-CFCF-64F2A94A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 wzrostu liczby placówek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58DA3888-9DB5-3494-9452-BB062DDD4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41" y="1727958"/>
            <a:ext cx="9291918" cy="481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0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9588B1-4EC0-135D-AEA8-518AEC51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Podział na stopień </a:t>
            </a:r>
            <a:r>
              <a:rPr lang="pl-PL" dirty="0" err="1"/>
              <a:t>ubranizacji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CC70FC1-4766-BC22-1742-173626F64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298" y="1690688"/>
            <a:ext cx="10007404" cy="51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0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86F6B6-C0C1-7615-4AFC-0F8105FB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Podział na dostęp do morza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44BE06F-7D44-B5DC-1722-D772D91AE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126" y="1570130"/>
            <a:ext cx="10047747" cy="520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4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BCDF9A-6419-6A36-55A1-52D21D75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l-PL" dirty="0"/>
              <a:t>Średnia liczba miejsc do spania na placówkę turystyczną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04088FB-3741-FD57-31D1-E20F23443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693" y="1628750"/>
            <a:ext cx="10090613" cy="52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ndered Image">
            <a:extLst>
              <a:ext uri="{FF2B5EF4-FFF2-40B4-BE49-F238E27FC236}">
                <a16:creationId xmlns:a16="http://schemas.microsoft.com/office/drawing/2014/main" id="{77A6DF55-550E-133A-DA3D-794E91F73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886" y="676836"/>
            <a:ext cx="5670227" cy="162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4B49767-36B0-2561-F35E-3829D5C72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330" y="2553753"/>
            <a:ext cx="5510493" cy="362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620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BCD77B-4CD9-9A8E-22E7-22C5923A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Dane względem województw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276D2A-5120-DC89-8446-65BA33EBA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441" y="5969565"/>
            <a:ext cx="2461232" cy="6531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1800" dirty="0"/>
              <a:t>Podział NUTS2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739AC8-7FDD-3744-34E2-FFAD350AD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8" y="2688516"/>
            <a:ext cx="3425358" cy="319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136523F-2FFA-5F57-A757-002478CA9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736" y="1864394"/>
            <a:ext cx="9112624" cy="472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84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B6346C-587F-9028-7AEE-8B2632C5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Trend na przestrzeni lat – poprzednie podziały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9DD9E71-F7B8-177E-C430-93B09BEA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15" y="1174376"/>
            <a:ext cx="11276969" cy="584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4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B9D1B7-BFAF-58D5-8EC0-0A5791B1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wykresy dla Polski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0349AC3-D81A-42CD-1625-5B0E2A4DB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35" y="1241262"/>
            <a:ext cx="10838329" cy="561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8438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220</Words>
  <Application>Microsoft Office PowerPoint</Application>
  <PresentationFormat>Panoramiczny</PresentationFormat>
  <Paragraphs>26</Paragraphs>
  <Slides>14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Motyw pakietu Office</vt:lpstr>
      <vt:lpstr>Noclegi i miejsca do spania  dla turystów w Europie</vt:lpstr>
      <vt:lpstr>Krótki opis pojawiających się pojęć​</vt:lpstr>
      <vt:lpstr>Informacje o zbiorze</vt:lpstr>
      <vt:lpstr>Kraje z największą liczbą placówek noclegowych</vt:lpstr>
      <vt:lpstr>Kraje z największą liczbą miejsc do spania</vt:lpstr>
      <vt:lpstr>Zmiana liczby placówek noclegowych na przestrzeni lat</vt:lpstr>
      <vt:lpstr>Indeks wzrostu liczby placówek</vt:lpstr>
      <vt:lpstr>Podział na stopień ubranizacji</vt:lpstr>
      <vt:lpstr>Podział na dostęp do morza</vt:lpstr>
      <vt:lpstr>Średnia liczba miejsc do spania na placówkę turystyczną</vt:lpstr>
      <vt:lpstr>Prezentacja programu PowerPoint</vt:lpstr>
      <vt:lpstr>Dane względem województw</vt:lpstr>
      <vt:lpstr>Trend na przestrzeni lat – poprzednie podziały</vt:lpstr>
      <vt:lpstr>Inne wykresy dla Polski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Machowski Jan (STUD)</dc:creator>
  <cp:lastModifiedBy>Machowski Jan (STUD)</cp:lastModifiedBy>
  <cp:revision>6</cp:revision>
  <dcterms:created xsi:type="dcterms:W3CDTF">2026-03-29T19:29:29Z</dcterms:created>
  <dcterms:modified xsi:type="dcterms:W3CDTF">2026-03-30T12:41:23Z</dcterms:modified>
</cp:coreProperties>
</file>