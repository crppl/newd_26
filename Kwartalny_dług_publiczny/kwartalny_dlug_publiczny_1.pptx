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2"/>
  </p:normalViewPr>
  <p:slideViewPr>
    <p:cSldViewPr snapToGrid="0">
      <p:cViewPr>
        <p:scale>
          <a:sx n="117" d="100"/>
          <a:sy n="117" d="100"/>
        </p:scale>
        <p:origin x="55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BB8451-4EEB-A5FD-4EB4-B44AC5B7C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C8CFE36-6DDA-6D57-1D9C-C7021C423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B6EE22A-D49D-FA1E-2086-5ED9584B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B785AD2-7EF5-4E27-F369-089AFD485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75D2D6C-E10E-A28F-25DE-E3839256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203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C13DDD-F845-2F27-F398-60650A31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457B74B-0296-D278-3547-C231058B4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0403640-C894-AE6F-9B48-8F9A99F43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B52D21A-4215-0872-9C7D-207D7BB88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419D966-CB12-3108-CBC9-F7B2970A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8047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54DE21-5165-2F99-5880-418EBF63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1388DB7-51AC-FA94-D402-F5159C19D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F1554CA-0284-256B-32CF-7D32F0DD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D3BAFDB-26C0-6CB6-47D2-6037CA49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E44F62A-1EE4-7FC5-BA8E-8B6E3DE9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92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2CBE01-A0AB-62E4-9858-D5E008FA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5942E4-A38F-1DC7-B30D-27CEA76F6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765CF3E-580E-1D14-3E69-24B112307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4EFCE01-E712-07BA-A4E8-2877C4AE1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263841C-6773-11E0-5001-FE922A4A9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27CEC24-9589-1383-52FE-D256DFDF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176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852E07-E035-FB56-6F23-4B0DF07E9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561AEA0-A7E9-6703-CBC5-4598FEE3B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E533750-5761-6E08-E61E-19F18124A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35745CB-DC03-FB6A-38B6-4DB6DC112F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1D61FCD7-F5FE-8A31-E4F0-6C955E592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2D2F930-62FE-B122-EC8E-3EB21D0D5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F848B5D-BD3F-7A1D-B8AB-50FBBBC88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BEE97E6-0228-50B1-ADF7-289E0E8C0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0327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F47BCE-4ED4-0A3A-90EE-49F42A963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C5B91A7-2F17-9724-726F-D2F21811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6858B2A-C5BA-9352-1D86-087EBA2C3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FCBA584-1561-6C85-0C69-8EC7E29DF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243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307F560-90A2-105E-02A7-321850894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C9D9403-CF0E-62EC-FA90-76581415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27EE3E0-FE7A-4ECD-21C8-1979BB79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7055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2EB66D-D5BE-7B68-41EE-E55E20ADD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CCD660-C98A-B40B-DDB4-8820E3A5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FEE8B93-6CC3-8E42-49B3-8B870BF82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92F1DAD-2A0E-7B2C-40F8-1E77FEB29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7366993-C2A5-0BB1-F07B-1C57244F1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47478D5-5CCF-D03D-9799-6BE900DB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40270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A7D18D-5505-C4D2-4CCE-031A8A65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E3A1A50E-CB67-716B-4852-055A70BD0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F015E77-6F8A-BC20-9042-68B737735C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E487491-59CC-E48D-9F78-DD38A83F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DB1F1AFA-380E-AD17-B49F-6A19ACCD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06BE4A0-226E-831D-5FC3-1FC674B94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38485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B36723-8819-BD11-5102-EB2C5D0AD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3EE0336-CC2E-37FD-8C22-B939655A75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4EDCC70-E768-202E-3C85-67F3CE71C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BCC9D3-7C22-15B7-EBD2-CBD6547F1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09AAC98-92FD-DF35-EAFA-3BB80AF5C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586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BC046AA-AA1E-81E6-43AE-AA8D8EB25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B1B7D75-A083-2D34-80D6-8EB8F79E0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0C606F-2C2C-7131-FAF6-4028B935C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403230F-0410-FFE4-01F7-61F4863EA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16DAEC1-F986-B507-545F-C39A9217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83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E24ABF35-5DDF-0EB2-499B-8F39D4E57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EA8D263E-43E6-914C-7963-D5FDD0926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1B6C33-2DC7-7285-6177-8D218DBD3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51D82-19E0-A34E-A7D9-49DA787648C9}" type="datetimeFigureOut">
              <a:rPr lang="pl-PL" smtClean="0"/>
              <a:t>16.03.2026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9A3CE1C-C195-EBBD-F358-0DC636A2A1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8F2735F-A604-ADCC-9706-562068E3E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ECEF79-F6E7-2B4A-9E05-CDB9F2BAD9B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9397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883D71-8B67-AA23-19AB-54AF5964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26720"/>
            <a:ext cx="9144000" cy="2387600"/>
          </a:xfrm>
        </p:spPr>
        <p:txBody>
          <a:bodyPr/>
          <a:lstStyle/>
          <a:p>
            <a:r>
              <a:rPr lang="pl-PL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Quarterly</a:t>
            </a:r>
            <a:r>
              <a:rPr lang="pl-P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l-PL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government</a:t>
            </a:r>
            <a:r>
              <a:rPr lang="pl-P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l-PL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debt</a:t>
            </a:r>
            <a:r>
              <a:rPr lang="pl-PL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(Kwartalny dług publiczny)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79A0FE9-6455-A613-6086-9C8A835E0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3138510"/>
            <a:ext cx="6096000" cy="2636202"/>
          </a:xfrm>
        </p:spPr>
        <p:txBody>
          <a:bodyPr>
            <a:normAutofit/>
          </a:bodyPr>
          <a:lstStyle/>
          <a:p>
            <a:r>
              <a:rPr lang="pl-PL" sz="3200" b="1" dirty="0"/>
              <a:t>Analiza i wizualizacja zbioru</a:t>
            </a:r>
          </a:p>
          <a:p>
            <a:endParaRPr lang="pl-PL" sz="2800" dirty="0"/>
          </a:p>
          <a:p>
            <a:r>
              <a:rPr lang="en-US" dirty="0" err="1"/>
              <a:t>Źródło</a:t>
            </a:r>
            <a:r>
              <a:rPr lang="en-US" dirty="0"/>
              <a:t>: Eurostat – </a:t>
            </a:r>
            <a:r>
              <a:rPr lang="pl-PL" dirty="0" err="1"/>
              <a:t>Quartely</a:t>
            </a:r>
            <a:r>
              <a:rPr lang="pl-PL" dirty="0"/>
              <a:t> </a:t>
            </a:r>
            <a:r>
              <a:rPr lang="pl-PL" dirty="0" err="1"/>
              <a:t>Government</a:t>
            </a:r>
            <a:r>
              <a:rPr lang="pl-PL" dirty="0"/>
              <a:t> </a:t>
            </a:r>
            <a:r>
              <a:rPr lang="pl-PL" dirty="0" err="1"/>
              <a:t>debt</a:t>
            </a:r>
            <a:r>
              <a:rPr lang="pl-PL" dirty="0"/>
              <a:t> Zbiór</a:t>
            </a:r>
            <a:r>
              <a:rPr lang="en-US" dirty="0"/>
              <a:t>: </a:t>
            </a:r>
            <a:r>
              <a:rPr lang="pl-PL" dirty="0"/>
              <a:t>gov_10q_ggdebt__custom_20309646</a:t>
            </a:r>
            <a:br>
              <a:rPr lang="pl-PL" dirty="0"/>
            </a:br>
            <a:r>
              <a:rPr lang="pl-PL" dirty="0"/>
              <a:t>Ostatnia aktualizacja</a:t>
            </a:r>
            <a:r>
              <a:rPr lang="en-US" dirty="0"/>
              <a:t>: 22/01/2026</a:t>
            </a:r>
            <a:br>
              <a:rPr lang="pl-PL" dirty="0"/>
            </a:br>
            <a:r>
              <a:rPr lang="pl-PL" dirty="0"/>
              <a:t>Pokrycie</a:t>
            </a:r>
            <a:r>
              <a:rPr lang="en-US" dirty="0"/>
              <a:t>: </a:t>
            </a:r>
            <a:r>
              <a:rPr lang="pl-PL" dirty="0"/>
              <a:t>Kraje członkowskie UE</a:t>
            </a:r>
            <a:r>
              <a:rPr lang="en-US" dirty="0"/>
              <a:t>, 2012-2025</a:t>
            </a:r>
          </a:p>
          <a:p>
            <a:endParaRPr lang="pl-PL" dirty="0"/>
          </a:p>
        </p:txBody>
      </p:sp>
      <p:sp>
        <p:nvSpPr>
          <p:cNvPr id="5" name="Podtytuł 2">
            <a:extLst>
              <a:ext uri="{FF2B5EF4-FFF2-40B4-BE49-F238E27FC236}">
                <a16:creationId xmlns:a16="http://schemas.microsoft.com/office/drawing/2014/main" id="{CFF3FC64-D839-309F-A408-C9E8B69D22D4}"/>
              </a:ext>
            </a:extLst>
          </p:cNvPr>
          <p:cNvSpPr txBox="1">
            <a:spLocks/>
          </p:cNvSpPr>
          <p:nvPr/>
        </p:nvSpPr>
        <p:spPr>
          <a:xfrm>
            <a:off x="2155371" y="5888038"/>
            <a:ext cx="7881258" cy="543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>
                <a:solidFill>
                  <a:schemeClr val="bg1">
                    <a:lumMod val="50000"/>
                  </a:schemeClr>
                </a:solidFill>
              </a:rPr>
              <a:t>Jan Domański, Jan Machowski, Maciej Kurzydłowski</a:t>
            </a:r>
          </a:p>
        </p:txBody>
      </p:sp>
    </p:spTree>
    <p:extLst>
      <p:ext uri="{BB962C8B-B14F-4D97-AF65-F5344CB8AC3E}">
        <p14:creationId xmlns:p14="http://schemas.microsoft.com/office/powerpoint/2010/main" val="3559013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923E80C-2675-232D-FE6E-472F98D72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0986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Aby porównywać kraje, przeliczamy każdy szereg względem pierwszej dostępnej obserwacji. Dzięki temu widzimy skalę wzrostu lub spadku długu w czasie niezależnie od waluty.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996CB19-F73C-6548-817C-F12180BFB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98177" y="1824219"/>
            <a:ext cx="5795645" cy="448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5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9EE47CE4-F1DB-766B-1CB3-795BB1E4C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41550" y="629935"/>
            <a:ext cx="7708900" cy="559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9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B1E0817F-8DFC-E596-C5CD-4761C65A7B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31436" y="304800"/>
            <a:ext cx="7529127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8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2269A-902E-2A8C-794C-C2A5AA24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8856AEFB-FFB2-FAAC-4E8E-1A6773F62C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54933" y="596413"/>
            <a:ext cx="7282133" cy="566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65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3DE36-0B58-4932-5171-E3E8ECDD2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8A30CF4-5F25-13CB-9D4F-A1CFDA714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Odchylenie standardowe dynamiki r/r traktujemy jako prostą miarę niestabilności zmian zadłużenia.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2F06AA3-2117-D23F-5100-490F53420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18485" y="1204350"/>
            <a:ext cx="6865269" cy="537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744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3726E-F708-6B6A-06AB-F339FD6BA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570CCA5-F330-9628-6D5E-5E198D3B1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 err="1"/>
              <a:t>Heatmapa</a:t>
            </a:r>
            <a:r>
              <a:rPr lang="pl-PL" dirty="0"/>
              <a:t> pozwala szybko zobaczyć, które kraje przez większość okresu znajdowały się blisko punktu startowego, a które weszły na wyraźnie wyższe ścieżki zadłużenia.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14BA7EB-AB2E-0AAE-91CD-FD73B09170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005995" y="1767840"/>
            <a:ext cx="6180008" cy="483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4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0F2B-1BDF-43A2-E032-ECCA659DA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FBD57D-C93D-C9FD-E252-269BB32EE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To proste porównanie mówi, czy bieżący poziom długu jest relatywnie wysoki lub niski względem przeciętnej ścieżki badanego kraju.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228E355-EE0A-FD79-8F59-5389FE221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751087" y="1371393"/>
            <a:ext cx="6935713" cy="513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53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60FE8-0923-80E9-8E55-91B037EC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B675FA-AD70-A8F9-742B-3D04A0945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Tworzymy 3 orientacyjne grupy: Europa Północno-Zachodnia,  Europa Południowa i Europa Środkowo-Wschodnia.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3B3C130-B6DA-72CE-03D8-36C74F4D53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97536" y="1284507"/>
            <a:ext cx="6963584" cy="513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562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C01A-5AF5-FE50-4D24-4DA9D2FF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F128E1A-ADC9-7B5E-A048-E5A1E93C3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705"/>
            <a:ext cx="10515600" cy="133413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l-PL" sz="3200" b="1" dirty="0"/>
              <a:t>Podstawowe wnioski z prostej analizy eksploracyjnej</a:t>
            </a:r>
          </a:p>
          <a:p>
            <a:pPr marL="0" indent="0">
              <a:buNone/>
            </a:pPr>
            <a:endParaRPr lang="pl-PL" dirty="0"/>
          </a:p>
        </p:txBody>
      </p:sp>
      <p:sp>
        <p:nvSpPr>
          <p:cNvPr id="2" name="Symbol zastępczy zawartości 2">
            <a:extLst>
              <a:ext uri="{FF2B5EF4-FFF2-40B4-BE49-F238E27FC236}">
                <a16:creationId xmlns:a16="http://schemas.microsoft.com/office/drawing/2014/main" id="{722EF4AF-BB9D-C54A-4C29-DC3B4DA945C4}"/>
              </a:ext>
            </a:extLst>
          </p:cNvPr>
          <p:cNvSpPr txBox="1">
            <a:spLocks/>
          </p:cNvSpPr>
          <p:nvPr/>
        </p:nvSpPr>
        <p:spPr>
          <a:xfrm>
            <a:off x="546100" y="1635761"/>
            <a:ext cx="11099800" cy="4602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pl-PL" dirty="0"/>
              <a:t>Najsilniejszy wzrost nominalnego długu od początku próby odnotowano w kraju: Estonia (586.3%).</a:t>
            </a:r>
          </a:p>
          <a:p>
            <a:pPr marL="514350" indent="-514350">
              <a:buAutoNum type="arabicPeriod"/>
            </a:pPr>
            <a:r>
              <a:rPr lang="pl-PL" dirty="0"/>
              <a:t>Najmniejszą skumulowaną zmianę odnotowano w kraju: </a:t>
            </a:r>
            <a:r>
              <a:rPr lang="pl-PL" dirty="0" err="1"/>
              <a:t>Denmark</a:t>
            </a:r>
            <a:r>
              <a:rPr lang="pl-PL" dirty="0"/>
              <a:t> (0.0%).</a:t>
            </a:r>
          </a:p>
          <a:p>
            <a:pPr marL="514350" indent="-514350">
              <a:buAutoNum type="arabicPeriod"/>
            </a:pPr>
            <a:r>
              <a:rPr lang="pl-PL" dirty="0"/>
              <a:t>Największą zmienność dynamiki r/r miał kraj: Estonia (27.91).</a:t>
            </a:r>
          </a:p>
          <a:p>
            <a:pPr marL="514350" indent="-514350">
              <a:buAutoNum type="arabicPeriod"/>
            </a:pPr>
            <a:r>
              <a:rPr lang="pl-PL" dirty="0"/>
              <a:t>Najbardziej stabilny przebieg dynamiki r/r miał kraj: </a:t>
            </a:r>
            <a:r>
              <a:rPr lang="pl-PL" dirty="0" err="1"/>
              <a:t>Italy</a:t>
            </a:r>
            <a:r>
              <a:rPr lang="pl-PL" dirty="0"/>
              <a:t> (1.62).</a:t>
            </a:r>
          </a:p>
          <a:p>
            <a:pPr marL="514350" indent="-514350">
              <a:buAutoNum type="arabicPeriod"/>
            </a:pPr>
            <a:r>
              <a:rPr lang="pl-PL" dirty="0"/>
              <a:t>Najwyższa ostatnia dynamika r/r wystąpiła w kraju: </a:t>
            </a:r>
            <a:r>
              <a:rPr lang="pl-PL" dirty="0" err="1"/>
              <a:t>Bulgaria</a:t>
            </a:r>
            <a:r>
              <a:rPr lang="pl-PL" dirty="0"/>
              <a:t> (27.7%).</a:t>
            </a:r>
          </a:p>
          <a:p>
            <a:pPr marL="514350" indent="-514350">
              <a:buAutoNum type="arabicPeriod"/>
            </a:pPr>
            <a:r>
              <a:rPr lang="pl-PL" dirty="0"/>
              <a:t>Najsłabsza ostatnia dynamika r/r wystąpiła w kraju: </a:t>
            </a:r>
            <a:r>
              <a:rPr lang="pl-PL" dirty="0" err="1"/>
              <a:t>Cyprus</a:t>
            </a:r>
            <a:r>
              <a:rPr lang="pl-PL" dirty="0"/>
              <a:t> (-5.0%).</a:t>
            </a:r>
          </a:p>
        </p:txBody>
      </p:sp>
    </p:spTree>
    <p:extLst>
      <p:ext uri="{BB962C8B-B14F-4D97-AF65-F5344CB8AC3E}">
        <p14:creationId xmlns:p14="http://schemas.microsoft.com/office/powerpoint/2010/main" val="15931158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237</Words>
  <Application>Microsoft Macintosh PowerPoint</Application>
  <PresentationFormat>Panoramiczny</PresentationFormat>
  <Paragraphs>17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Motyw pakietu Office</vt:lpstr>
      <vt:lpstr>Quarterly government debt (Kwartalny dług publiczny)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Domański Jan (STUD)</dc:creator>
  <cp:lastModifiedBy>Domański Jan (STUD)</cp:lastModifiedBy>
  <cp:revision>3</cp:revision>
  <dcterms:created xsi:type="dcterms:W3CDTF">2026-03-16T11:19:02Z</dcterms:created>
  <dcterms:modified xsi:type="dcterms:W3CDTF">2026-03-16T14:03:32Z</dcterms:modified>
</cp:coreProperties>
</file>