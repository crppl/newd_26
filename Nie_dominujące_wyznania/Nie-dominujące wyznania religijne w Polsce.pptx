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7" r:id="rId4"/>
    <p:sldId id="259" r:id="rId5"/>
    <p:sldId id="271" r:id="rId6"/>
    <p:sldId id="263" r:id="rId7"/>
    <p:sldId id="262" r:id="rId8"/>
    <p:sldId id="275" r:id="rId9"/>
    <p:sldId id="267" r:id="rId10"/>
    <p:sldId id="268" r:id="rId11"/>
    <p:sldId id="264" r:id="rId12"/>
    <p:sldId id="265" r:id="rId13"/>
    <p:sldId id="266" r:id="rId14"/>
    <p:sldId id="276" r:id="rId15"/>
    <p:sldId id="272" r:id="rId16"/>
    <p:sldId id="261" r:id="rId17"/>
    <p:sldId id="260" r:id="rId18"/>
    <p:sldId id="273" r:id="rId19"/>
    <p:sldId id="274" r:id="rId20"/>
    <p:sldId id="269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F2523-BC85-4198-BE99-68D39C252A89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559320-7735-4C81-B40F-D25C783B28E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852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1968 – 1970 -&gt;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59320-7735-4C81-B40F-D25C783B28E6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3760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D56CEE5-1213-68AE-54FB-7F4CEC8D6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09BCB5B-DB1B-C427-1F07-0BA45D161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EE01D8D-7160-220F-9F6A-7B8CE338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40D95BA-C50D-B772-55F6-E1598F9E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BA100E6-3087-8AFF-AC04-A8256F87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6564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88C5A9-3F11-4B34-BCDC-75C0BA65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D74A98-C9A2-F702-213F-ECB4BD725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44ED1AD-2E8B-01B3-917E-3007E3B59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F1C918A-4C94-F5AB-186A-CB0DA87F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FD27A93-FCB8-1489-0922-3C929A91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521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FD4C8D-EBB8-0B7D-1A12-22CC02A4C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824B7F-1F6E-CE41-6AF3-430620F74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7C990F3-2A86-07F9-E765-97DBB242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2FABBB3-0639-9A9A-4614-DB1799A6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38285F7-7190-0C90-65EE-90DFDBFA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820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17DAE7-2C52-F082-AE0C-4E93BC2C1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D8135B0-DCE6-1AC4-CC88-B79582A51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0E237F8-31BE-5495-32F7-04FFBADAC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E9C8815-C351-19BF-6526-47CB8C6E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B3B3378-C260-84DF-9987-0C391EA0E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8325C4F-2012-D86D-19D5-3AFC4BB3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412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1F3265-C1C8-A33D-0F6B-14FA33B22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7FE4422-432E-9A07-7AF5-838540A66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21D73B2-E7EC-0713-C5F5-1FE26B740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606880F-8716-F21E-7A79-8F620C216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EB6E5E8-4BFB-6803-96BB-EFFD62A0FA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A59AAB38-E142-A850-0A4E-DA6A414A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E483166-021A-C001-C08D-53F9DAABC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26F199BA-C3CF-56BB-96D8-76516A45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85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6BE977-F8A0-A321-B7F5-4C93197C6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BF90C95-B1ED-C750-D3DC-1265E362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4019DD5-B8F3-20B3-3CE5-80BC8BE5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30EA0CE-F2F8-8A7F-BC6B-79CB30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703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EEB1DC31-D57C-0D76-8E0E-8920C7C1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285C451-45BF-23BC-FD9D-D0942E42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74C8145-2BE4-09A3-22AD-4EAC32FF2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0927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C39137-F30B-8B2F-E94B-051E383FE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3DCD995-6C75-4575-E377-C7F99FA35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7C03DC7-718C-BF0E-E270-910ECD0C0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D88A11B-1638-129A-5558-48DD9B06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980EAC1-C6B7-2D5E-ACBC-43ED75476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BF655D0-C929-B1F5-87C5-DD93C68C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2255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1A1596-ED5D-C2F4-62DB-1236508D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31725099-86C6-8D00-3E2C-CD65575567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51EB03C-F1AB-20BE-DA99-8942794BF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3AAF76A-E001-14E1-F917-93C7E5E4E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BC25983-F74C-B600-81DC-EF8157E14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E4998C2-F635-38D7-617A-B60A42C0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534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94DEBD-DD2D-F847-10AB-2BDBD1192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2D573A3-ACEF-41D5-F765-B7B311ADB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A418DCF-EF3D-91F7-D1FB-65D9D284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FD998E9-2049-FE10-412A-ACAB4D7B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D77E860-793D-B695-70C1-FCEC92E9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9499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F80FE49-FF88-BC27-66AA-3A6CA2991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1ACDEBE-EF75-A552-E617-F0E70241E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0F4F5F5-70A6-BD30-B3B4-9FAAFDE1A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3FCFE62-0C89-22D0-6E33-6862BDBAE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0AC319A-D9E7-2027-751D-FBF45BEF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4211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052DDEB-9218-46D4-6937-2A093631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342EB8C-163D-5CB2-BD8C-577E7557B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69BAA9C-3B28-CB05-E9DF-7ED1A157C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E01A65-B816-4914-A995-823E74C691F7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99DD1E7-C50E-60E1-56E0-F5EBFBC4A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39C9D40-3B76-B200-2BE4-56698AE6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0F3D0-FAEA-4816-A612-32F11D425CE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782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3D7368-B54E-D4BF-C0EF-9A5B5750B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0755"/>
            <a:ext cx="9144000" cy="2387600"/>
          </a:xfrm>
        </p:spPr>
        <p:txBody>
          <a:bodyPr/>
          <a:lstStyle/>
          <a:p>
            <a:r>
              <a:rPr lang="pl-PL" dirty="0"/>
              <a:t>Nie-dominujące wyznania religijne w Polsce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DE45BC5-67CB-DF11-767D-AB70B4FFF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0430"/>
            <a:ext cx="9144000" cy="1655762"/>
          </a:xfrm>
        </p:spPr>
        <p:txBody>
          <a:bodyPr/>
          <a:lstStyle/>
          <a:p>
            <a:r>
              <a:rPr lang="pl-PL" dirty="0"/>
              <a:t>Źródło danych - GUS</a:t>
            </a:r>
          </a:p>
        </p:txBody>
      </p:sp>
    </p:spTree>
    <p:extLst>
      <p:ext uri="{BB962C8B-B14F-4D97-AF65-F5344CB8AC3E}">
        <p14:creationId xmlns:p14="http://schemas.microsoft.com/office/powerpoint/2010/main" val="116715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5B31A-C135-F047-C780-A845C5D62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1B4419-D0A6-65E6-0637-0350FFFF6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Polski Autokefaliczny</a:t>
            </a:r>
            <a:br>
              <a:rPr lang="pl-PL" dirty="0"/>
            </a:br>
            <a:r>
              <a:rPr lang="pl-PL" dirty="0"/>
              <a:t>Kościół Prawosławny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F48EB75-F29E-ABD6-51AB-C89AEF8863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Jeden z kanonicznych, samodzielnych kościołów </a:t>
            </a:r>
            <a:br>
              <a:rPr lang="pl-PL" dirty="0"/>
            </a:br>
            <a:r>
              <a:rPr lang="pl-PL" dirty="0"/>
              <a:t>prawosławnych w Polsce.</a:t>
            </a:r>
          </a:p>
        </p:txBody>
      </p:sp>
    </p:spTree>
    <p:extLst>
      <p:ext uri="{BB962C8B-B14F-4D97-AF65-F5344CB8AC3E}">
        <p14:creationId xmlns:p14="http://schemas.microsoft.com/office/powerpoint/2010/main" val="179129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B963E5-E98A-42DD-677D-63369A017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duchownych i miejsc modlitwy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8C22363C-14C7-6B4F-E512-0E73F8A78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71" y="1429334"/>
            <a:ext cx="10551458" cy="546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12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1AB561-D6A2-8373-7980-682D1D07D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duchownych a liczba parafii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4CA74A8-1576-D5E9-CF99-6AAC0E35A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33" y="1591235"/>
            <a:ext cx="10394733" cy="538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82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4E0E-C646-EB5A-ADE4-F1A5D3F9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D6FD63-795C-2BA3-B487-779C4B9AAE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Kościoły Starokatolickie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DF6193B-AB93-1F37-E3A4-8A9C897C2F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Powstałe w wyniku sprzeciwu części Kościoła Rzymskokatolickiego wobec ogłoszenia dogmatu o nieomylności i prymacie papieża.</a:t>
            </a:r>
            <a:br>
              <a:rPr lang="pl-PL" dirty="0"/>
            </a:br>
            <a:r>
              <a:rPr lang="pl-PL" dirty="0"/>
              <a:t>(Sobór Watykański I, 1870 r.)</a:t>
            </a:r>
          </a:p>
        </p:txBody>
      </p:sp>
    </p:spTree>
    <p:extLst>
      <p:ext uri="{BB962C8B-B14F-4D97-AF65-F5344CB8AC3E}">
        <p14:creationId xmlns:p14="http://schemas.microsoft.com/office/powerpoint/2010/main" val="1908911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854C75-07BD-F19D-CE64-57A9C24D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Wykres liniowy – kościoły Starokatolickie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D492CB0-9C9F-A478-C5D1-207AC38D7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15" y="1565274"/>
            <a:ext cx="10610970" cy="549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90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16257D-105A-A68C-6387-C2159CE0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Wykres liniowy – Kościół Polskokatolicki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6F9BC43-F6F0-70DD-5C05-B14109143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82" y="1690688"/>
            <a:ext cx="10354236" cy="5365868"/>
          </a:xfrm>
          <a:prstGeom prst="rect">
            <a:avLst/>
          </a:prstGeom>
        </p:spPr>
      </p:pic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89C4681-715D-9CC1-803D-0394C6379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932" y="112117"/>
            <a:ext cx="2208068" cy="183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418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132A6A-EF87-C52F-4020-F4F4C3C9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Kościół Katolicki Mariawitów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0A96907-EC35-FF32-6594-75D99884C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96" y="1690688"/>
            <a:ext cx="10671208" cy="530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45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34FCF-EF82-5CAD-1DF5-949A5E8F5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02A002-5C02-2D1D-73D5-E550D8C35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pl-PL" dirty="0"/>
              <a:t>Kościoły protestanckie</a:t>
            </a:r>
          </a:p>
        </p:txBody>
      </p:sp>
    </p:spTree>
    <p:extLst>
      <p:ext uri="{BB962C8B-B14F-4D97-AF65-F5344CB8AC3E}">
        <p14:creationId xmlns:p14="http://schemas.microsoft.com/office/powerpoint/2010/main" val="1212821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16816B-C874-925F-7AE1-3A5FFCBF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członków względem wyznania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EEFD88A-D2C0-3953-C41A-DBE445C82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89" y="1775201"/>
            <a:ext cx="10218821" cy="50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9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2ED92F-022F-4B4A-766C-161C7A97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Kościół Adwentystów Dnia Siódmego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1376B477-88E2-027D-0535-C2D158B30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217" y="1861377"/>
            <a:ext cx="10045566" cy="499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47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BFA7F0-64AC-AD32-A6BE-12D7851A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Kościół Chrześcijan Baptystów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0BCE831-A00C-A9DF-A56A-B5EC91C62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31" y="1487947"/>
            <a:ext cx="10796337" cy="53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156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1054D2-608C-90D8-F146-4CCC41C2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Kościół Ewangelicko-Augsburski (Luterański)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2BC5593-4122-C220-A94F-C07C3B757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01" y="1690688"/>
            <a:ext cx="10286197" cy="51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08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5A63F0B-7386-B435-1371-B84186D5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Zmiany liczby członków wybranych wyznań protestanckich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EB24CE6-C11D-8669-75F1-842CA0D7C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11" y="1690688"/>
            <a:ext cx="10430577" cy="518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28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599B-8632-1B03-A7F5-EDBDA2A7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C0AE2A-B6DB-2FC5-7F6C-2587B69EF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pl-PL" dirty="0"/>
              <a:t>Inne wyznania religijne</a:t>
            </a:r>
          </a:p>
        </p:txBody>
      </p:sp>
    </p:spTree>
    <p:extLst>
      <p:ext uri="{BB962C8B-B14F-4D97-AF65-F5344CB8AC3E}">
        <p14:creationId xmlns:p14="http://schemas.microsoft.com/office/powerpoint/2010/main" val="2390517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8A6DEA-445A-84BA-5D1C-5B69D565D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Wykres liniowy – muzułmani terroryści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9153E78-9370-49DD-065C-436110BB3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4613" y="6957632"/>
            <a:ext cx="10161495" cy="526598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33B9B172-147D-86EF-C672-29CBB342B9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70" r="30461"/>
          <a:stretch>
            <a:fillRect/>
          </a:stretch>
        </p:blipFill>
        <p:spPr>
          <a:xfrm>
            <a:off x="8866094" y="1873622"/>
            <a:ext cx="3325906" cy="4575549"/>
          </a:xfrm>
          <a:prstGeom prst="rect">
            <a:avLst/>
          </a:prstGeom>
        </p:spPr>
      </p:pic>
      <p:pic>
        <p:nvPicPr>
          <p:cNvPr id="3074" name="Picture 2" descr="Islamic Prayer GIFs - Find &amp; Share on GIPHY">
            <a:extLst>
              <a:ext uri="{FF2B5EF4-FFF2-40B4-BE49-F238E27FC236}">
                <a16:creationId xmlns:a16="http://schemas.microsoft.com/office/drawing/2014/main" id="{174C7FB9-CFD6-E40F-EB23-3E0F4EA9F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605" y="224444"/>
            <a:ext cx="2142565" cy="160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604090FF-F757-87F2-FA64-F27D90E89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9930" y="2014302"/>
            <a:ext cx="9692128" cy="482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83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893D8D-0146-1B17-5EEE-ACB253B90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Wykres liniowy – żydzi       </a:t>
            </a:r>
            <a:r>
              <a:rPr lang="pl-PL" dirty="0" err="1"/>
              <a:t>gułdaje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3B2F012-576C-801D-BBB9-B4E2CC0B3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94" y="1571625"/>
            <a:ext cx="10614211" cy="5500594"/>
          </a:xfrm>
          <a:prstGeom prst="rect">
            <a:avLst/>
          </a:prstGeom>
        </p:spPr>
      </p:pic>
      <p:pic>
        <p:nvPicPr>
          <p:cNvPr id="2050" name="Picture 2" descr="Israel Flag Wave - Free GIF on Pixabay">
            <a:extLst>
              <a:ext uri="{FF2B5EF4-FFF2-40B4-BE49-F238E27FC236}">
                <a16:creationId xmlns:a16="http://schemas.microsoft.com/office/drawing/2014/main" id="{ABF8A0D3-039B-4D3E-5E02-33499E351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340" y="141045"/>
            <a:ext cx="2398059" cy="165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194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BB14A-FD22-7510-D1A3-F97A6CD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EAE84A-A49E-554B-9BD4-40DBC758E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pl-PL" dirty="0"/>
              <a:t>Wykresy porównawcze</a:t>
            </a:r>
          </a:p>
        </p:txBody>
      </p:sp>
    </p:spTree>
    <p:extLst>
      <p:ext uri="{BB962C8B-B14F-4D97-AF65-F5344CB8AC3E}">
        <p14:creationId xmlns:p14="http://schemas.microsoft.com/office/powerpoint/2010/main" val="1565891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A794B6-9400-AD78-9CD9-B1FFADEC5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obiektów kultu względem wyznania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DA8C2A2-99E8-76A2-EA7C-34F03B0C3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52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67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C69F49-08D5-DDC7-2D74-989B771A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Wskaźnik obsadzenia na obiekt kultu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7CCFBF0A-E4E6-2977-9DF3-BD52ACE6B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69" y="1596324"/>
            <a:ext cx="10767461" cy="535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75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E28BB8-F92B-5C9D-1393-07E8FDA39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członków na 1 duchownego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0006F1B-93BE-421C-A919-58EA02F44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44" y="1761423"/>
            <a:ext cx="10091711" cy="50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98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517CAE-F94D-21B7-6DC0-1F97652E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Liczba obiektów kultu w 3 wybranych wyznaniach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5EB4370-A58B-C139-CB6B-66D3402E1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69" y="1712345"/>
            <a:ext cx="10767461" cy="535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93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C6749E-FCC5-7E5F-0BBD-12EC1E87E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Kościoły Ewangeliczne – porównanie liczby osób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0BBA4D6-7C32-293A-F80C-C9DFAD94C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408" y="1834298"/>
            <a:ext cx="9747183" cy="484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0001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147</Words>
  <Application>Microsoft Office PowerPoint</Application>
  <PresentationFormat>Panoramiczny</PresentationFormat>
  <Paragraphs>28</Paragraphs>
  <Slides>23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Motyw pakietu Office</vt:lpstr>
      <vt:lpstr>Nie-dominujące wyznania religijne w Polsce</vt:lpstr>
      <vt:lpstr>Polski Autokefaliczny Kościół Prawosławny</vt:lpstr>
      <vt:lpstr>Liczba duchownych i miejsc modlitwy</vt:lpstr>
      <vt:lpstr>Liczba duchownych a liczba parafii</vt:lpstr>
      <vt:lpstr>Kościoły Starokatolickie</vt:lpstr>
      <vt:lpstr>Wykres liniowy – kościoły Starokatolickie</vt:lpstr>
      <vt:lpstr>Wykres liniowy – Kościół Polskokatolicki</vt:lpstr>
      <vt:lpstr>Kościół Katolicki Mariawitów</vt:lpstr>
      <vt:lpstr>Kościoły protestanckie</vt:lpstr>
      <vt:lpstr>Liczba członków względem wyznania</vt:lpstr>
      <vt:lpstr>Kościół Adwentystów Dnia Siódmego</vt:lpstr>
      <vt:lpstr>Kościół Chrześcijan Baptystów</vt:lpstr>
      <vt:lpstr>Kościół Ewangelicko-Augsburski (Luterański)</vt:lpstr>
      <vt:lpstr>Zmiany liczby członków wybranych wyznań protestanckich</vt:lpstr>
      <vt:lpstr>Inne wyznania religijne</vt:lpstr>
      <vt:lpstr>Wykres liniowy – muzułmani terroryści</vt:lpstr>
      <vt:lpstr>Wykres liniowy – żydzi       gułdaje</vt:lpstr>
      <vt:lpstr>Wykresy porównawcze</vt:lpstr>
      <vt:lpstr>Liczba obiektów kultu względem wyznania</vt:lpstr>
      <vt:lpstr>Wskaźnik obsadzenia na obiekt kultu</vt:lpstr>
      <vt:lpstr>Liczba członków na 1 duchownego</vt:lpstr>
      <vt:lpstr>Liczba obiektów kultu w 3 wybranych wyznaniach</vt:lpstr>
      <vt:lpstr>Kościoły Ewangeliczne – porównanie liczby osób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Machowski Jan (STUD)</dc:creator>
  <cp:lastModifiedBy>Machowski Jan (STUD)</cp:lastModifiedBy>
  <cp:revision>11</cp:revision>
  <dcterms:created xsi:type="dcterms:W3CDTF">2026-04-08T16:20:43Z</dcterms:created>
  <dcterms:modified xsi:type="dcterms:W3CDTF">2026-04-13T14:19:58Z</dcterms:modified>
</cp:coreProperties>
</file>