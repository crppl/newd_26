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10BDA-AF62-11FF-4687-28E04E2A6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127D118-DF4F-E791-04F4-62CAFA03B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5BC1AA0-42E8-1CA4-4D02-46EFEE570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50FB-684E-4277-B605-35E0A6C33F9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38E6170-CECB-0970-7DE7-32A0A38CE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45483C0-E452-F9BD-99A9-F310221E4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BF359-9BDE-4F81-8FF0-1595DD691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6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ADA60A-60E6-3B6C-09FC-20E0ACD33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7958204-9F60-5A4F-D05A-96B3F2933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84E1020-84F8-6729-B012-4DD84438B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50FB-684E-4277-B605-35E0A6C33F9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0A2582-1BE8-662A-C7CD-91AC04A75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17B6650-F6EB-A7CD-A0C6-18B77231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BF359-9BDE-4F81-8FF0-1595DD691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26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2B2A9C-5D34-0C6B-842D-FFB2F503B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4766DEB-47E4-0AE7-1BFC-61F741DCF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1E23D08-A607-C9D7-F3A2-F55A1E2D5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50FB-684E-4277-B605-35E0A6C33F9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5D897B1-5A4F-A109-05A0-82E165EB7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B2A3F59-E05B-3C62-D03C-309D8660F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BF359-9BDE-4F81-8FF0-1595DD691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47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40DA7C2-0E5D-13E8-90E0-A3C550100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6B071C9-E480-5447-B336-11288C2DF5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D787DEC-0DD5-61F5-CDF8-2E035E3F6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B49148F-956B-72DC-5CAA-F7226CB86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50FB-684E-4277-B605-35E0A6C33F9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A60277-22B0-0CBD-783E-EFED7704E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7DAD931-D7D2-B302-60D1-8CF71EF0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BF359-9BDE-4F81-8FF0-1595DD691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7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19F52DA-2CD1-F31F-DB0F-6BDBC7CA5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4D6194C-27C5-DFE8-8E11-E8376F6F3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EEA8337-B6C1-E513-2097-867543779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A6BF0D3-D3C7-5177-D9CE-5CEA0C2E3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204835D1-EE85-D44A-E19C-1ABB1336B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66B3CCB3-7A4A-12E4-502B-2172CA7F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50FB-684E-4277-B605-35E0A6C33F9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91472265-C8EB-8C8D-7D8A-3E0374EA0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C6D9642-54E7-C76C-E744-E392858B7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BF359-9BDE-4F81-8FF0-1595DD691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679305-41B2-A32D-860F-D5242459F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2841898-1040-BCA7-3B81-DD11BB3CA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50FB-684E-4277-B605-35E0A6C33F9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AD9D783-FF73-A31D-1207-1014BB4A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93B891F-2684-8EEA-603D-B5DA5D52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BF359-9BDE-4F81-8FF0-1595DD691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85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236A3DA-8044-057B-D915-F6C3DF4B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50FB-684E-4277-B605-35E0A6C33F9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3DCE168-5817-DF8D-4062-304E84A98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8E0E176-3906-94F6-39FE-633C413B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BF359-9BDE-4F81-8FF0-1595DD691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0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43DE6A-A564-EBA7-EF27-32153EABB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9CEC602-8825-E7AB-246B-2953B6E15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A26D3AA-4E9C-CB56-D0EA-E481A40F7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DAA258A-2F06-FAF0-1125-D234E644D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50FB-684E-4277-B605-35E0A6C33F9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D08FE06-0763-8768-9111-1E7A2F10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47514A4-D3B7-D7D6-7E51-5EAC4E94A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BF359-9BDE-4F81-8FF0-1595DD691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6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B93BAA-4B57-F91F-BF98-D9D71168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6EFDEFC0-8B46-AE05-0E36-2894732E3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9B25590-8A63-BB98-0DC2-6C03F5744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9DF306-E5A5-6533-16BF-6A3ACF39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50FB-684E-4277-B605-35E0A6C33F9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C4ACDA2-46FC-3479-68C6-76B7AE94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D5C59CA-FB40-2C32-6EF5-D2748224D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BF359-9BDE-4F81-8FF0-1595DD691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12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D5C63E-953C-F552-6089-4F0EBA9FA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C888CBF-6135-7304-34E9-0CB6A4E54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7157DFE-04AF-FCC4-5B3D-17827BA1D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50FB-684E-4277-B605-35E0A6C33F9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F8991D1-7A47-8F45-F79C-94BE5474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865201-C0F0-A15B-7CCC-318C1AF89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BF359-9BDE-4F81-8FF0-1595DD691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367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8A88025-BA12-805E-08FA-50D5719051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D60905F-992E-BFE3-0D3C-1308E7F94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61FFB28-CCA9-AE69-9382-19530CFCC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50FB-684E-4277-B605-35E0A6C33F9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FB07CE1-61A7-0836-55A4-44CF23FBF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08E9659-55D2-5806-3845-9009EE82F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BF359-9BDE-4F81-8FF0-1595DD691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47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5A405719-58C1-1EA8-E751-6273A61D3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7C3BE3E-9158-5D30-4A23-4436A124B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AC947BC-B788-3CA5-4480-70F4FB0FC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450FB-684E-4277-B605-35E0A6C33F9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52EF3A0-38D0-E37F-9A3C-C46529669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26383D9-1125-76E4-E35B-B60EEA409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BF359-9BDE-4F81-8FF0-1595DD691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7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355FB1-CEB3-143C-3116-8AC7E2446F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Studenci wg płci oraz podgrup kierunków</a:t>
            </a:r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D79D44F-66D3-8B4A-AF43-62C2C87A7B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none">
            <a:normAutofit/>
          </a:bodyPr>
          <a:lstStyle/>
          <a:p>
            <a:r>
              <a:rPr lang="pl-PL" sz="1400" dirty="0"/>
              <a:t>Źródło: GUS</a:t>
            </a:r>
          </a:p>
          <a:p>
            <a:r>
              <a:rPr lang="pl-PL" sz="1400" dirty="0"/>
              <a:t>Zbiór: Studenci i absolwenci wg form własności uczelni, form studiów, płci, oraz podgrup kierunków studiów klasyfikacji ISCED-F 2013</a:t>
            </a:r>
          </a:p>
          <a:p>
            <a:r>
              <a:rPr lang="pl-PL" sz="1400" dirty="0"/>
              <a:t>Ostatnia aktualizacja: 23/10/2025</a:t>
            </a:r>
          </a:p>
          <a:p>
            <a:r>
              <a:rPr lang="pl-PL" sz="1600" dirty="0"/>
              <a:t>Zakres: 2014 - 2024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62917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5E0AFB-CC90-D264-C746-B120BCCC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Informacje o zbiorze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4F7446F-135C-1834-1C5B-FF7A20685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Do 2016 r. dane pozyskiwane są ze sprawozdawczości </a:t>
            </a:r>
            <a:r>
              <a:rPr lang="pl-PL" b="1" dirty="0"/>
              <a:t>GUS</a:t>
            </a:r>
            <a:r>
              <a:rPr lang="pl-PL" dirty="0"/>
              <a:t>. Od 2017 r. dane opracowano na podstawie systemu </a:t>
            </a:r>
            <a:r>
              <a:rPr lang="pl-PL" b="1" dirty="0"/>
              <a:t>POL-on </a:t>
            </a:r>
            <a:r>
              <a:rPr lang="pl-PL" dirty="0"/>
              <a:t>administrowanego przez </a:t>
            </a:r>
            <a:r>
              <a:rPr lang="pl-PL" b="1" dirty="0"/>
              <a:t>Ministerstwo Edukacji i Nauki</a:t>
            </a:r>
            <a:r>
              <a:rPr lang="pl-PL" dirty="0"/>
              <a:t>.</a:t>
            </a:r>
          </a:p>
          <a:p>
            <a:r>
              <a:rPr lang="pl-PL" dirty="0"/>
              <a:t>Dane nie obejmują uczelni prowadzonych przez kościoły oraz szkół resortu obrony narodowej / resortów spraw wewnętrznych.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127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8F8E8F-6E55-24E1-90EE-7EAF8409F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dirty="0"/>
              <a:t>Zmiana liczby studentów 2014 - 2024</a:t>
            </a:r>
            <a:endParaRPr lang="en-US" sz="4000" dirty="0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A5780C1E-BD27-D53D-2621-51142B3AD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727" y="1934522"/>
            <a:ext cx="5852172" cy="4389129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4559E73D-C8BF-07E3-36A5-B8DBC06FD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55" y="1934522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900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74EBED-FBA6-C037-490C-0E5B02A4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Najpopularniejsze kierunki</a:t>
            </a:r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EAE1DDA-6D44-DA33-23C2-8C26D7198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994" y="1512089"/>
            <a:ext cx="6100762" cy="4880611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CC14B96D-9D4A-CA13-00BE-BD5770BC2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5905"/>
            <a:ext cx="6045994" cy="483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40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5B9E48-ABF2-4F76-41FE-11CBCFBE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Najmniej popularne kierunki</a:t>
            </a:r>
            <a:endParaRPr lang="en-US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EEE0B9B2-F82C-C0F0-AA9C-1F8E14B6B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093" y="1690687"/>
            <a:ext cx="5805560" cy="4644449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333CA0F3-EE4A-8AF2-383C-5B7D6E4DF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65" y="1690688"/>
            <a:ext cx="5805560" cy="464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78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8178AC-655F-9F07-76D7-7E61B705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Studenci w województwach</a:t>
            </a:r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917C969-98DD-54CD-5CC7-57BFED175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7160" y="1690688"/>
            <a:ext cx="6551632" cy="4428757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C0C7D8B0-9340-F0DC-5B24-622759401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274" y="1690688"/>
            <a:ext cx="6265924" cy="416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88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383B3E05-7204-AD56-D49D-14F677FFE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06" y="156168"/>
            <a:ext cx="9163929" cy="654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94495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102</Words>
  <Application>Microsoft Office PowerPoint</Application>
  <PresentationFormat>Panoramiczny</PresentationFormat>
  <Paragraphs>12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Motyw pakietu Office</vt:lpstr>
      <vt:lpstr>Studenci wg płci oraz podgrup kierunków</vt:lpstr>
      <vt:lpstr>Informacje o zbiorze</vt:lpstr>
      <vt:lpstr>Zmiana liczby studentów 2014 - 2024</vt:lpstr>
      <vt:lpstr>Najpopularniejsze kierunki</vt:lpstr>
      <vt:lpstr>Najmniej popularne kierunki</vt:lpstr>
      <vt:lpstr>Studenci w województwach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Kurzydłowski Maciej (STUD)</dc:creator>
  <cp:lastModifiedBy>Kurzydłowski Maciej (STUD)</cp:lastModifiedBy>
  <cp:revision>1</cp:revision>
  <dcterms:created xsi:type="dcterms:W3CDTF">2026-03-29T21:48:36Z</dcterms:created>
  <dcterms:modified xsi:type="dcterms:W3CDTF">2026-03-29T22:34:11Z</dcterms:modified>
</cp:coreProperties>
</file>