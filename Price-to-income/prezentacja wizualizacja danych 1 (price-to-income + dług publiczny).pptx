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1" r:id="rId2"/>
    <p:sldId id="256" r:id="rId3"/>
    <p:sldId id="259" r:id="rId4"/>
    <p:sldId id="260" r:id="rId5"/>
    <p:sldId id="257" r:id="rId6"/>
    <p:sldId id="258" r:id="rId7"/>
    <p:sldId id="269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5EA5F-23F8-46F6-B110-55FAFA976322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4CB96-137C-4ABA-AD86-073B37D8086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7588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Leptokurtyczny</a:t>
            </a:r>
            <a:r>
              <a:rPr lang="pl-PL" dirty="0"/>
              <a:t> rozkład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4CB96-137C-4ABA-AD86-073B37D80866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086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106B06-DF96-8478-B02C-002C48605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017384-45F1-095D-0025-17B86C2F9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1F3DB37-1DAB-7081-10BA-91B7646B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2C08B56-FEC3-B015-3ED3-9B768BC2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298FC1E-D374-EC1B-5145-3F314698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681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3F7A44-D087-65AC-8AEC-AF9B73D8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60A974-58E0-A9F8-04B7-D240C701C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4E6568-1B51-D8AE-F2DB-FEE02289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56B5EBA-B366-6DD4-E82E-1D5BFFE2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9556EE-296D-CD79-8534-E3133F49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209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8516CC-54D4-F008-9761-0069FC54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9117D21-CED3-BF20-0AD1-76193D34B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0CD9F6E-D538-35C2-C93D-2926C748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F8FC83-6763-3DD5-FD91-2070C5BB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62B7B4-D0F9-895A-0071-7CDFF9D4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001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1A10FB-FD09-FCFC-A56B-D57AF5D2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EE70559-DBA9-4903-3A05-B0E72B754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1DB4D94-B5EB-F91F-0FAD-2F7E73908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AE9ADAD-346D-CA14-1B9D-AE17226B3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3A08D13-5B82-A56D-4EAC-58FAF665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645B6B1-7110-779A-5794-FE01A587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978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152AE9-185F-D17C-C9B2-39A81125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4E05FFB-8A78-29CD-75AE-0F7AD3AAD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854A2BC-8F50-84C8-47F2-60B25DF53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A25AB63-F2D5-006C-70C9-F0270948A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3FB83F5-1829-192F-D58C-E81BAC36F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1ADE8F9-2899-F4DA-AE96-C57AD94E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463CCF1-F230-D52A-17AB-EA1C5963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5407998-4886-B115-F740-EA231C53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715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59071B-1C3D-0D58-ECA3-99741BCB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4FA7CA1-7647-CC42-9EF6-AE3AE122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25A176F-C30E-36C1-34B2-586E4E65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0B837F0-2F15-8651-7251-A921EF20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3380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DE118E4-DC1D-3DBB-C8ED-A0F6B15B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BB6840A-812C-490B-CE31-12337E24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73E03E7-53E4-96FC-9DDB-62DAF07A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879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41CA9D-8686-FD48-FEC5-237DDB50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353A37E-A504-5BED-FE45-8F57A401E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ADB637F-811F-7F18-BD70-984623E1C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6CEEACF-C5A3-B03E-F22E-BF961DFEA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085BDA4-C991-C57D-DC35-D8B34389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8D114EA-5F15-FFF1-8945-CE65ECCB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063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5A4724-E4BC-478D-4B37-70116E2A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707E18F-A044-B838-1E85-777A0B4D2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66CABE0-9D56-1FDE-02E1-8FA9DA1B4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80CFD53-A8A4-8BE1-B845-1A5F3061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C010DF7-0D80-7A0F-EDCF-E7CA66B7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2C5A3A0-23CE-55D3-E6C4-4A782B8D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803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6E8EBC-7302-8071-83ED-35759CA8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B78B6F0-1169-9AA8-98A5-188E29C5E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DECE94-0D9F-3D8E-A9DE-7B78BF8A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07825D-EC91-E7E6-2700-6CA4EFD6C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B273928-23DB-459D-7860-A3E51951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648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403EB00-357C-937E-A595-BADE1247B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3CA8CF3-60DF-4306-73DA-483A65607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AA3121B-76AA-FE42-7CC1-EE5E4194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5CE44C-CADA-3F36-1656-7090405A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C3C8F72-CB77-9642-D232-FBCEEBA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43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D7CA75C-33E7-3C9C-C3D2-717DE5CE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2376BF4-2AAB-AEFF-3502-4227372C4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AED6D8-6D15-9B9C-D722-CA1134D54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FF1A5-EF9C-41AF-BA83-C3B87BF80FA3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F586E3-257E-BD8F-7E67-2F0D7256E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54D2350-92BB-1207-D535-B9D875720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46765-5D3A-40C9-8E34-67603A5DF5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271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55A3D0-A91C-C651-5C58-A935AB0C6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3299"/>
            <a:ext cx="9144000" cy="2387600"/>
          </a:xfrm>
        </p:spPr>
        <p:txBody>
          <a:bodyPr/>
          <a:lstStyle/>
          <a:p>
            <a:r>
              <a:rPr lang="pl-PL" dirty="0"/>
              <a:t>Wizualizacja danych</a:t>
            </a:r>
            <a:br>
              <a:rPr lang="pl-PL" dirty="0"/>
            </a:br>
            <a:r>
              <a:rPr lang="pl-PL" dirty="0"/>
              <a:t>Projekt 1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D71099D-7666-6391-C9D5-E26FA12B4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2974"/>
            <a:ext cx="9144000" cy="1655762"/>
          </a:xfrm>
        </p:spPr>
        <p:txBody>
          <a:bodyPr/>
          <a:lstStyle/>
          <a:p>
            <a:r>
              <a:rPr lang="pl-PL" dirty="0"/>
              <a:t>Jan Domański, Maciej Kurzydłowski, Jan Machowski</a:t>
            </a:r>
          </a:p>
        </p:txBody>
      </p:sp>
    </p:spTree>
    <p:extLst>
      <p:ext uri="{BB962C8B-B14F-4D97-AF65-F5344CB8AC3E}">
        <p14:creationId xmlns:p14="http://schemas.microsoft.com/office/powerpoint/2010/main" val="96869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A15768-1B12-4112-BBF7-0CD76972B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392" y="838899"/>
            <a:ext cx="11253216" cy="2387600"/>
          </a:xfrm>
        </p:spPr>
        <p:txBody>
          <a:bodyPr>
            <a:normAutofit/>
          </a:bodyPr>
          <a:lstStyle/>
          <a:p>
            <a:r>
              <a:rPr lang="pl-PL" dirty="0" err="1"/>
              <a:t>Standarized</a:t>
            </a:r>
            <a:r>
              <a:rPr lang="pl-PL" dirty="0"/>
              <a:t> </a:t>
            </a:r>
            <a:r>
              <a:rPr lang="pl-PL" dirty="0" err="1"/>
              <a:t>Price</a:t>
            </a:r>
            <a:r>
              <a:rPr lang="pl-PL" dirty="0"/>
              <a:t>-to-</a:t>
            </a:r>
            <a:r>
              <a:rPr lang="pl-PL" dirty="0" err="1"/>
              <a:t>Income</a:t>
            </a:r>
            <a:r>
              <a:rPr lang="pl-PL" dirty="0"/>
              <a:t> ratio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76E873D-21E1-CF7E-C76E-38ED066BA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8574"/>
            <a:ext cx="9144000" cy="2295842"/>
          </a:xfrm>
        </p:spPr>
        <p:txBody>
          <a:bodyPr>
            <a:normAutofit/>
          </a:bodyPr>
          <a:lstStyle/>
          <a:p>
            <a:r>
              <a:rPr lang="pl-PL" sz="3200" b="1" dirty="0"/>
              <a:t>Analiza i wizualizacja zbioru</a:t>
            </a:r>
            <a:endParaRPr lang="pl-PL" sz="2000" b="1" dirty="0"/>
          </a:p>
          <a:p>
            <a:r>
              <a:rPr lang="en-US" sz="1800" dirty="0" err="1"/>
              <a:t>Źródło</a:t>
            </a:r>
            <a:r>
              <a:rPr lang="en-US" sz="1800" dirty="0"/>
              <a:t>: Eurostat - </a:t>
            </a:r>
            <a:r>
              <a:rPr lang="en-US" sz="1800" dirty="0" err="1"/>
              <a:t>Standardised</a:t>
            </a:r>
            <a:r>
              <a:rPr lang="en-US" sz="1800" dirty="0"/>
              <a:t> house price-to-income ratio (annual data)</a:t>
            </a:r>
            <a:br>
              <a:rPr lang="pl-PL" sz="1800" dirty="0"/>
            </a:br>
            <a:r>
              <a:rPr lang="pl-PL" sz="1800" dirty="0"/>
              <a:t>Zbiór</a:t>
            </a:r>
            <a:r>
              <a:rPr lang="en-US" sz="1800" dirty="0"/>
              <a:t>: tipsho60__custom_20309360 </a:t>
            </a:r>
            <a:br>
              <a:rPr lang="pl-PL" sz="1800" dirty="0"/>
            </a:br>
            <a:r>
              <a:rPr lang="pl-PL" sz="1800" dirty="0"/>
              <a:t>Ostatnia aktualizacja</a:t>
            </a:r>
            <a:r>
              <a:rPr lang="en-US" sz="1800" dirty="0"/>
              <a:t>: 09/01/2026</a:t>
            </a:r>
            <a:br>
              <a:rPr lang="pl-PL" sz="1800" dirty="0"/>
            </a:br>
            <a:r>
              <a:rPr lang="pl-PL" sz="1800" dirty="0"/>
              <a:t>Pokrycie</a:t>
            </a:r>
            <a:r>
              <a:rPr lang="en-US" sz="1800" dirty="0"/>
              <a:t>: </a:t>
            </a:r>
            <a:r>
              <a:rPr lang="pl-PL" sz="1800" dirty="0"/>
              <a:t>Kraje członkowskie UE</a:t>
            </a:r>
            <a:r>
              <a:rPr lang="en-US" sz="1800" dirty="0"/>
              <a:t>, 2000-2024</a:t>
            </a:r>
          </a:p>
          <a:p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205164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A95FC0-4848-7EC0-C2BC-A4973896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Krótki opis pojawiających się pojęć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96F41B-F161-B419-F9F2-F68747DEB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l-PL" dirty="0" err="1"/>
              <a:t>Price</a:t>
            </a:r>
            <a:r>
              <a:rPr lang="pl-PL" dirty="0"/>
              <a:t>-to-</a:t>
            </a:r>
            <a:r>
              <a:rPr lang="pl-PL" dirty="0" err="1"/>
              <a:t>Income</a:t>
            </a:r>
            <a:r>
              <a:rPr lang="pl-PL" dirty="0"/>
              <a:t> – ustandaryzowany stosunek średniej ceny mieszkania do AGDI gospodarstwa domowego. Mierzony względem roku 2015 lub średniej długoterminowej;</a:t>
            </a:r>
          </a:p>
          <a:p>
            <a:pPr algn="just"/>
            <a:r>
              <a:rPr lang="pl-PL" dirty="0"/>
              <a:t>AGDI – skorygowany dochód do dyspozycji brutto gospodarstwa domowego;</a:t>
            </a:r>
          </a:p>
          <a:p>
            <a:pPr algn="just"/>
            <a:r>
              <a:rPr lang="pl-PL" dirty="0" err="1"/>
              <a:t>Rate</a:t>
            </a:r>
            <a:r>
              <a:rPr lang="pl-PL" dirty="0"/>
              <a:t> of </a:t>
            </a:r>
            <a:r>
              <a:rPr lang="pl-PL" dirty="0" err="1"/>
              <a:t>Change</a:t>
            </a:r>
            <a:r>
              <a:rPr lang="pl-PL" dirty="0"/>
              <a:t> – współczynnik zmiany wartości </a:t>
            </a:r>
            <a:r>
              <a:rPr lang="pl-PL" dirty="0" err="1"/>
              <a:t>Price</a:t>
            </a:r>
            <a:r>
              <a:rPr lang="pl-PL" dirty="0"/>
              <a:t>-to-</a:t>
            </a:r>
            <a:r>
              <a:rPr lang="pl-PL" dirty="0" err="1"/>
              <a:t>Income</a:t>
            </a:r>
            <a:r>
              <a:rPr lang="pl-PL" dirty="0"/>
              <a:t> względem poprzedniego roku (w roku 2000 wartości </a:t>
            </a:r>
            <a:r>
              <a:rPr lang="pl-PL" dirty="0" err="1"/>
              <a:t>NaN</a:t>
            </a:r>
            <a:r>
              <a:rPr lang="pl-PL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2692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D734BD-3794-4AAF-DDA0-57374CA9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Istotne informacje o zbiorze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3B3689-9B5E-7225-091C-DEDE958BB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Dane zostały zbierane od 2000 do 2024 roku;</a:t>
            </a:r>
          </a:p>
          <a:p>
            <a:r>
              <a:rPr lang="pl-PL" dirty="0"/>
              <a:t>W skład danych wchodzi 27 państwach Europejskich;</a:t>
            </a:r>
          </a:p>
          <a:p>
            <a:r>
              <a:rPr lang="pl-PL" b="1" u="sng" dirty="0"/>
              <a:t>Większość danych od 2000 do 2004 roku są </a:t>
            </a:r>
            <a:r>
              <a:rPr lang="pl-PL" b="1" u="sng" dirty="0" err="1"/>
              <a:t>estymatami</a:t>
            </a:r>
            <a:r>
              <a:rPr lang="pl-PL" b="1" u="sng" dirty="0"/>
              <a:t> </a:t>
            </a:r>
            <a:r>
              <a:rPr lang="pl-PL" dirty="0"/>
              <a:t>– na te dane należy brać poprawkę.</a:t>
            </a:r>
          </a:p>
          <a:p>
            <a:pPr algn="just"/>
            <a:r>
              <a:rPr lang="pl-PL" dirty="0"/>
              <a:t>Zwiększenie / zmniejszenie indeksu PTI </a:t>
            </a:r>
            <a:r>
              <a:rPr lang="pl-PL" b="1" dirty="0"/>
              <a:t>nie oznacza jednoznacznie zwiększenia / zmniejszenia ceny mieszkania</a:t>
            </a:r>
            <a:r>
              <a:rPr lang="pl-PL" dirty="0"/>
              <a:t> – oznacza to, że stosunek mieszkania względem zarobku się zwiększyła / zmieniła.</a:t>
            </a:r>
          </a:p>
          <a:p>
            <a:pPr algn="just"/>
            <a:r>
              <a:rPr lang="pl-PL" dirty="0"/>
              <a:t>Indeks PTI dla kraju można interpretować jako </a:t>
            </a:r>
            <a:r>
              <a:rPr lang="pl-PL" b="1" dirty="0"/>
              <a:t>średnia, względna wartość domu w danym kraju</a:t>
            </a:r>
          </a:p>
          <a:p>
            <a:endParaRPr lang="pl-PL" b="1" u="sng" dirty="0"/>
          </a:p>
        </p:txBody>
      </p:sp>
    </p:spTree>
    <p:extLst>
      <p:ext uri="{BB962C8B-B14F-4D97-AF65-F5344CB8AC3E}">
        <p14:creationId xmlns:p14="http://schemas.microsoft.com/office/powerpoint/2010/main" val="4213264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F064ED-F992-C94B-E310-A1CBEDF1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Krótka statystyka opisowa</a:t>
            </a:r>
          </a:p>
        </p:txBody>
      </p:sp>
      <p:pic>
        <p:nvPicPr>
          <p:cNvPr id="11" name="Symbol zastępczy zawartości 10">
            <a:extLst>
              <a:ext uri="{FF2B5EF4-FFF2-40B4-BE49-F238E27FC236}">
                <a16:creationId xmlns:a16="http://schemas.microsoft.com/office/drawing/2014/main" id="{AF4A2E5F-CA2D-FF81-B9A8-6876C3A1E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19200"/>
            <a:ext cx="10465332" cy="52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32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9C1707-B567-3150-507C-A5F79A89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 </a:t>
            </a:r>
            <a:r>
              <a:rPr lang="pl-PL" dirty="0" err="1"/>
              <a:t>Price</a:t>
            </a:r>
            <a:r>
              <a:rPr lang="pl-PL" dirty="0"/>
              <a:t>-to-</a:t>
            </a:r>
            <a:r>
              <a:rPr lang="pl-PL" dirty="0" err="1"/>
              <a:t>Income</a:t>
            </a:r>
            <a:r>
              <a:rPr lang="pl-PL" dirty="0"/>
              <a:t> względem kraju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04385E1-2719-FDF5-5B71-460D1BBBF7B2}"/>
              </a:ext>
            </a:extLst>
          </p:cNvPr>
          <p:cNvSpPr txBox="1"/>
          <p:nvPr/>
        </p:nvSpPr>
        <p:spPr>
          <a:xfrm>
            <a:off x="4848223" y="6123543"/>
            <a:ext cx="249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Rok referencyjny – 2015</a:t>
            </a:r>
          </a:p>
        </p:txBody>
      </p:sp>
      <p:pic>
        <p:nvPicPr>
          <p:cNvPr id="18" name="Symbol zastępczy zawartości 17">
            <a:extLst>
              <a:ext uri="{FF2B5EF4-FFF2-40B4-BE49-F238E27FC236}">
                <a16:creationId xmlns:a16="http://schemas.microsoft.com/office/drawing/2014/main" id="{F969F359-F0B1-BA18-4906-BEB44E33F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356" y="1169471"/>
            <a:ext cx="10331284" cy="51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5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D428E1-AC45-17E0-9C36-8F109274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Rate</a:t>
            </a:r>
            <a:r>
              <a:rPr lang="pl-PL" dirty="0"/>
              <a:t> of </a:t>
            </a:r>
            <a:r>
              <a:rPr lang="pl-PL" dirty="0" err="1"/>
              <a:t>Change</a:t>
            </a:r>
            <a:r>
              <a:rPr lang="pl-PL" dirty="0"/>
              <a:t> względem kraju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C80A3CC-EFF3-7441-61E6-1E733A726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46" y="1690688"/>
            <a:ext cx="10267707" cy="510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652545-2A24-894D-7723-34E1B393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PTI 2024 względem średniej długoterminowej – wykres słupkowy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38C84EFA-A95B-F367-5800-8ACCE8FF3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106" y="1662344"/>
            <a:ext cx="10025788" cy="51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5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D3B465-6E0B-D3E0-CA5B-755F4F58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Heatmap</a:t>
            </a:r>
            <a:r>
              <a:rPr lang="pl-PL" dirty="0"/>
              <a:t> wartości </a:t>
            </a:r>
            <a:r>
              <a:rPr lang="pl-PL" dirty="0" err="1"/>
              <a:t>Rate</a:t>
            </a:r>
            <a:r>
              <a:rPr lang="pl-PL" dirty="0"/>
              <a:t> of </a:t>
            </a:r>
            <a:r>
              <a:rPr lang="pl-PL" dirty="0" err="1"/>
              <a:t>Change</a:t>
            </a:r>
            <a:endParaRPr lang="pl-PL" dirty="0"/>
          </a:p>
        </p:txBody>
      </p:sp>
      <p:pic>
        <p:nvPicPr>
          <p:cNvPr id="13" name="Symbol zastępczy zawartości 12">
            <a:extLst>
              <a:ext uri="{FF2B5EF4-FFF2-40B4-BE49-F238E27FC236}">
                <a16:creationId xmlns:a16="http://schemas.microsoft.com/office/drawing/2014/main" id="{2980CFE6-52C8-9984-3A82-763773725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981" y="1480882"/>
            <a:ext cx="10086037" cy="52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4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73E20C-BD8B-262E-8053-78657277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Statystyki </a:t>
            </a:r>
            <a:r>
              <a:rPr lang="pl-PL" dirty="0" err="1"/>
              <a:t>Rate</a:t>
            </a:r>
            <a:r>
              <a:rPr lang="pl-PL" dirty="0"/>
              <a:t> of </a:t>
            </a:r>
            <a:r>
              <a:rPr lang="pl-PL" dirty="0" err="1"/>
              <a:t>Change</a:t>
            </a:r>
            <a:endParaRPr lang="pl-PL" dirty="0"/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358B69EF-5851-FDC6-FFA4-3948878BD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7143" y="1591612"/>
            <a:ext cx="9457713" cy="490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29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AD20B9-E59B-1874-B432-F5674E93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Zmiana </a:t>
            </a:r>
            <a:r>
              <a:rPr lang="pl-PL" dirty="0" err="1"/>
              <a:t>Price</a:t>
            </a:r>
            <a:r>
              <a:rPr lang="pl-PL" dirty="0"/>
              <a:t>-to-</a:t>
            </a:r>
            <a:r>
              <a:rPr lang="pl-PL" dirty="0" err="1"/>
              <a:t>Income</a:t>
            </a:r>
            <a:r>
              <a:rPr lang="pl-PL" dirty="0"/>
              <a:t> między 2000 a 2024 – wykres słupkowy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31E9789E-E68A-D251-968C-4B2F3BF8C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396" y="1537710"/>
            <a:ext cx="9841208" cy="510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9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27E8E9-CED6-1007-2B42-2FBA4B64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Zmiana </a:t>
            </a:r>
            <a:r>
              <a:rPr lang="pl-PL" dirty="0" err="1"/>
              <a:t>Price</a:t>
            </a:r>
            <a:r>
              <a:rPr lang="pl-PL" dirty="0"/>
              <a:t>-to-</a:t>
            </a:r>
            <a:r>
              <a:rPr lang="pl-PL" dirty="0" err="1"/>
              <a:t>Income</a:t>
            </a:r>
            <a:r>
              <a:rPr lang="pl-PL" dirty="0"/>
              <a:t> między maksimum a minimum – wykres słupkowy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E55BC536-B86C-2870-4290-2EF8A867D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999" y="1650076"/>
            <a:ext cx="9802001" cy="507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6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3F97F5-B4DF-3A99-ADD0-560E91CD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 punktowy – wartość zmiany względem aktualnej wartości</a:t>
            </a:r>
          </a:p>
        </p:txBody>
      </p:sp>
      <p:pic>
        <p:nvPicPr>
          <p:cNvPr id="13" name="Symbol zastępczy zawartości 12">
            <a:extLst>
              <a:ext uri="{FF2B5EF4-FFF2-40B4-BE49-F238E27FC236}">
                <a16:creationId xmlns:a16="http://schemas.microsoft.com/office/drawing/2014/main" id="{7F72344B-1E45-DA8D-7896-A34EB91F6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266" y="1610235"/>
            <a:ext cx="10361467" cy="536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61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4456ED-565D-F2AD-B1C3-5B87BF4B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Wykresy liniowe dla Polski</a:t>
            </a:r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7738FA5E-6605-9BD0-BA97-5EE57A188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873" y="1731131"/>
            <a:ext cx="9732254" cy="50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85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257FF4-A83A-DCF2-2277-9CAAFD40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72536D-9696-3CFC-07E9-162C5BE26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l-PL" dirty="0"/>
              <a:t>Na przełomie lat 2008-2015, w większości krajów Europy indeks PTI drastycznie spadł, po czym powoli wzrastał;</a:t>
            </a:r>
          </a:p>
          <a:p>
            <a:pPr algn="just"/>
            <a:r>
              <a:rPr lang="pl-PL" dirty="0"/>
              <a:t>85% wartości </a:t>
            </a:r>
            <a:r>
              <a:rPr lang="pl-PL" dirty="0" err="1"/>
              <a:t>Rate</a:t>
            </a:r>
            <a:r>
              <a:rPr lang="pl-PL" dirty="0"/>
              <a:t> of </a:t>
            </a:r>
            <a:r>
              <a:rPr lang="pl-PL" dirty="0" err="1"/>
              <a:t>Change</a:t>
            </a:r>
            <a:r>
              <a:rPr lang="pl-PL" dirty="0"/>
              <a:t> na przestrzeni wszystkich lat znajduje się w przedziale &lt;-10 </a:t>
            </a:r>
            <a:r>
              <a:rPr lang="pl-PL" dirty="0" err="1"/>
              <a:t>pp</a:t>
            </a:r>
            <a:r>
              <a:rPr lang="pl-PL" dirty="0"/>
              <a:t>; 10pp&gt;. Sugeruje to, że gospodarka mieszkaniowa jest średnio stabilna.</a:t>
            </a:r>
          </a:p>
          <a:p>
            <a:pPr algn="just"/>
            <a:r>
              <a:rPr lang="pl-PL" dirty="0"/>
              <a:t>Specjalnym przypadkiem jest Rumunia, w której PTI i </a:t>
            </a:r>
            <a:r>
              <a:rPr lang="pl-PL" dirty="0" err="1"/>
              <a:t>RoC</a:t>
            </a:r>
            <a:r>
              <a:rPr lang="pl-PL" dirty="0"/>
              <a:t> są bardzo zmienne i odstające </a:t>
            </a:r>
            <a:r>
              <a:rPr lang="pl-PL"/>
              <a:t>od pozostałych krajów.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2040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883D71-8B67-AA23-19AB-54AF5964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6720"/>
            <a:ext cx="9144000" cy="2387600"/>
          </a:xfrm>
        </p:spPr>
        <p:txBody>
          <a:bodyPr/>
          <a:lstStyle/>
          <a:p>
            <a:r>
              <a:rPr lang="pl-PL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Quarterly</a:t>
            </a:r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l-PL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government</a:t>
            </a:r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l-PL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debt</a:t>
            </a:r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(Kwartalny dług publiczny)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9A0FE9-6455-A613-6086-9C8A835E0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138510"/>
            <a:ext cx="6096000" cy="2636202"/>
          </a:xfrm>
        </p:spPr>
        <p:txBody>
          <a:bodyPr>
            <a:normAutofit/>
          </a:bodyPr>
          <a:lstStyle/>
          <a:p>
            <a:r>
              <a:rPr lang="pl-PL" sz="3200" b="1" dirty="0"/>
              <a:t>Analiza i wizualizacja zbioru</a:t>
            </a:r>
          </a:p>
          <a:p>
            <a:endParaRPr lang="pl-PL" sz="2800" dirty="0"/>
          </a:p>
          <a:p>
            <a:r>
              <a:rPr lang="en-US" dirty="0" err="1"/>
              <a:t>Źródło</a:t>
            </a:r>
            <a:r>
              <a:rPr lang="en-US" dirty="0"/>
              <a:t>: Eurostat – </a:t>
            </a:r>
            <a:r>
              <a:rPr lang="pl-PL" dirty="0" err="1"/>
              <a:t>Quartely</a:t>
            </a:r>
            <a:r>
              <a:rPr lang="pl-PL" dirty="0"/>
              <a:t> </a:t>
            </a:r>
            <a:r>
              <a:rPr lang="pl-PL" dirty="0" err="1"/>
              <a:t>Government</a:t>
            </a:r>
            <a:r>
              <a:rPr lang="pl-PL" dirty="0"/>
              <a:t> </a:t>
            </a:r>
            <a:r>
              <a:rPr lang="pl-PL" dirty="0" err="1"/>
              <a:t>debt</a:t>
            </a:r>
            <a:r>
              <a:rPr lang="pl-PL" dirty="0"/>
              <a:t> Zbiór</a:t>
            </a:r>
            <a:r>
              <a:rPr lang="en-US" dirty="0"/>
              <a:t>: </a:t>
            </a:r>
            <a:r>
              <a:rPr lang="pl-PL" dirty="0"/>
              <a:t>gov_10q_ggdebt__custom_20309646</a:t>
            </a:r>
            <a:br>
              <a:rPr lang="pl-PL" dirty="0"/>
            </a:br>
            <a:r>
              <a:rPr lang="pl-PL" dirty="0"/>
              <a:t>Ostatnia aktualizacja</a:t>
            </a:r>
            <a:r>
              <a:rPr lang="en-US" dirty="0"/>
              <a:t>: 22/01/2026</a:t>
            </a:r>
            <a:br>
              <a:rPr lang="pl-PL" dirty="0"/>
            </a:br>
            <a:r>
              <a:rPr lang="pl-PL" dirty="0"/>
              <a:t>Pokrycie</a:t>
            </a:r>
            <a:r>
              <a:rPr lang="en-US" dirty="0"/>
              <a:t>: </a:t>
            </a:r>
            <a:r>
              <a:rPr lang="pl-PL" dirty="0"/>
              <a:t>Kraje członkowskie UE</a:t>
            </a:r>
            <a:r>
              <a:rPr lang="en-US" dirty="0"/>
              <a:t>, 2012-2025</a:t>
            </a:r>
          </a:p>
          <a:p>
            <a:endParaRPr lang="pl-PL" dirty="0"/>
          </a:p>
        </p:txBody>
      </p:sp>
      <p:sp>
        <p:nvSpPr>
          <p:cNvPr id="5" name="Podtytuł 2">
            <a:extLst>
              <a:ext uri="{FF2B5EF4-FFF2-40B4-BE49-F238E27FC236}">
                <a16:creationId xmlns:a16="http://schemas.microsoft.com/office/drawing/2014/main" id="{CFF3FC64-D839-309F-A408-C9E8B69D22D4}"/>
              </a:ext>
            </a:extLst>
          </p:cNvPr>
          <p:cNvSpPr txBox="1">
            <a:spLocks/>
          </p:cNvSpPr>
          <p:nvPr/>
        </p:nvSpPr>
        <p:spPr>
          <a:xfrm>
            <a:off x="2155371" y="5888038"/>
            <a:ext cx="7881258" cy="543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013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23E80C-2675-232D-FE6E-472F98D7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986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Aby porównywać kraje, przeliczamy każdy szereg względem pierwszej dostępnej obserwacji. Dzięki temu widzimy skalę wzrostu lub spadku długu w czasie niezależnie od waluty.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996CB19-F73C-6548-817C-F12180BFB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98177" y="1824219"/>
            <a:ext cx="5795645" cy="448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57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9EE47CE4-F1DB-766B-1CB3-795BB1E4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41550" y="629935"/>
            <a:ext cx="7708900" cy="559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95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1E0817F-8DFC-E596-C5CD-4761C65A7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1436" y="304800"/>
            <a:ext cx="7529127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2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2269A-902E-2A8C-794C-C2A5AA24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8856AEFB-FFB2-FAAC-4E8E-1A6773F6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54933" y="596413"/>
            <a:ext cx="7282133" cy="56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65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DE36-0B58-4932-5171-E3E8ECDD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A30CF4-5F25-13CB-9D4F-A1CFDA714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Odchylenie standardowe dynamiki r/r traktujemy jako prostą miarę niestabilności zmian zadłużenia.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2F06AA3-2117-D23F-5100-490F53420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18485" y="1204350"/>
            <a:ext cx="6865269" cy="537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4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726E-F708-6B6A-06AB-F339FD6B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70CCA5-F330-9628-6D5E-5E198D3B1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/>
              <a:t>Heatmapa</a:t>
            </a:r>
            <a:r>
              <a:rPr lang="pl-PL" dirty="0"/>
              <a:t> pozwala szybko zobaczyć, które kraje przez większość okresu znajdowały się blisko punktu startowego, a które weszły na wyraźnie wyższe ścieżki zadłużenia.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14BA7EB-AB2E-0AAE-91CD-FD73B091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05995" y="1767840"/>
            <a:ext cx="6180008" cy="483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40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0F2B-1BDF-43A2-E032-ECCA659D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FBD57D-C93D-C9FD-E252-269BB32EE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To proste porównanie mówi, czy bieżący poziom długu jest relatywnie wysoki lub niski względem przeciętnej ścieżki badanego kraju.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228E355-EE0A-FD79-8F59-5389FE221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51087" y="1371393"/>
            <a:ext cx="6935713" cy="513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53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60FE8-0923-80E9-8E55-91B037EC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B675FA-AD70-A8F9-742B-3D04A0945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Tworzymy 3 orientacyjne grupy: Europa Północno-Zachodnia,  Europa Południowa i Europa Środkowo-Wschodnia.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3B3C130-B6DA-72CE-03D8-36C74F4D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97536" y="1284507"/>
            <a:ext cx="6963584" cy="51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62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C01A-5AF5-FE50-4D24-4DA9D2FF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128E1A-ADC9-7B5E-A048-E5A1E93C3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3200" b="1" dirty="0"/>
              <a:t>Podstawowe wnioski z prostej analizy eksploracyjnej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2" name="Symbol zastępczy zawartości 2">
            <a:extLst>
              <a:ext uri="{FF2B5EF4-FFF2-40B4-BE49-F238E27FC236}">
                <a16:creationId xmlns:a16="http://schemas.microsoft.com/office/drawing/2014/main" id="{722EF4AF-BB9D-C54A-4C29-DC3B4DA945C4}"/>
              </a:ext>
            </a:extLst>
          </p:cNvPr>
          <p:cNvSpPr txBox="1">
            <a:spLocks/>
          </p:cNvSpPr>
          <p:nvPr/>
        </p:nvSpPr>
        <p:spPr>
          <a:xfrm>
            <a:off x="546100" y="1635761"/>
            <a:ext cx="11099800" cy="4602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pl-PL" dirty="0"/>
              <a:t>Najsilniejszy wzrost nominalnego długu od początku próby odnotowano w kraju: Estonia (586.3%).</a:t>
            </a:r>
          </a:p>
          <a:p>
            <a:pPr marL="514350" indent="-514350">
              <a:buAutoNum type="arabicPeriod"/>
            </a:pPr>
            <a:r>
              <a:rPr lang="pl-PL" dirty="0"/>
              <a:t>Najmniejszą skumulowaną zmianę odnotowano w kraju: </a:t>
            </a:r>
            <a:r>
              <a:rPr lang="pl-PL" dirty="0" err="1"/>
              <a:t>Denmark</a:t>
            </a:r>
            <a:r>
              <a:rPr lang="pl-PL" dirty="0"/>
              <a:t> (0.0%).</a:t>
            </a:r>
          </a:p>
          <a:p>
            <a:pPr marL="514350" indent="-514350">
              <a:buAutoNum type="arabicPeriod"/>
            </a:pPr>
            <a:r>
              <a:rPr lang="pl-PL" dirty="0"/>
              <a:t>Największą zmienność dynamiki r/r miał kraj: Estonia (27.91).</a:t>
            </a:r>
          </a:p>
          <a:p>
            <a:pPr marL="514350" indent="-514350">
              <a:buAutoNum type="arabicPeriod"/>
            </a:pPr>
            <a:r>
              <a:rPr lang="pl-PL" dirty="0"/>
              <a:t>Najbardziej stabilny przebieg dynamiki r/r miał kraj: </a:t>
            </a:r>
            <a:r>
              <a:rPr lang="pl-PL" dirty="0" err="1"/>
              <a:t>Italy</a:t>
            </a:r>
            <a:r>
              <a:rPr lang="pl-PL" dirty="0"/>
              <a:t> (1.62).</a:t>
            </a:r>
          </a:p>
          <a:p>
            <a:pPr marL="514350" indent="-514350">
              <a:buAutoNum type="arabicPeriod"/>
            </a:pPr>
            <a:r>
              <a:rPr lang="pl-PL" dirty="0"/>
              <a:t>Najwyższa ostatnia dynamika r/r wystąpiła w kraju: </a:t>
            </a:r>
            <a:r>
              <a:rPr lang="pl-PL" dirty="0" err="1"/>
              <a:t>Bulgaria</a:t>
            </a:r>
            <a:r>
              <a:rPr lang="pl-PL" dirty="0"/>
              <a:t> (27.7%).</a:t>
            </a:r>
          </a:p>
          <a:p>
            <a:pPr marL="514350" indent="-514350">
              <a:buAutoNum type="arabicPeriod"/>
            </a:pPr>
            <a:r>
              <a:rPr lang="pl-PL" dirty="0"/>
              <a:t>Najsłabsza ostatnia dynamika r/r wystąpiła w kraju: </a:t>
            </a:r>
            <a:r>
              <a:rPr lang="pl-PL" dirty="0" err="1"/>
              <a:t>Cyprus</a:t>
            </a:r>
            <a:r>
              <a:rPr lang="pl-PL" dirty="0"/>
              <a:t> (-5.0%).</a:t>
            </a:r>
          </a:p>
        </p:txBody>
      </p:sp>
    </p:spTree>
    <p:extLst>
      <p:ext uri="{BB962C8B-B14F-4D97-AF65-F5344CB8AC3E}">
        <p14:creationId xmlns:p14="http://schemas.microsoft.com/office/powerpoint/2010/main" val="15931158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550</Words>
  <Application>Microsoft Office PowerPoint</Application>
  <PresentationFormat>Panoramiczny</PresentationFormat>
  <Paragraphs>48</Paragraphs>
  <Slides>25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Motyw pakietu Office</vt:lpstr>
      <vt:lpstr>Wizualizacja danych Projekt 1</vt:lpstr>
      <vt:lpstr>Standarized Price-to-Income ratio</vt:lpstr>
      <vt:lpstr>Krótki opis pojawiających się pojęć</vt:lpstr>
      <vt:lpstr>Istotne informacje o zbiorze</vt:lpstr>
      <vt:lpstr>Krótka statystyka opisowa</vt:lpstr>
      <vt:lpstr>Indeks Price-to-Income względem kraju</vt:lpstr>
      <vt:lpstr>Rate of Change względem kraju</vt:lpstr>
      <vt:lpstr>PTI 2024 względem średniej długoterminowej – wykres słupkowy</vt:lpstr>
      <vt:lpstr>Heatmap wartości Rate of Change</vt:lpstr>
      <vt:lpstr>Statystyki Rate of Change</vt:lpstr>
      <vt:lpstr>Zmiana Price-to-Income między 2000 a 2024 – wykres słupkowy</vt:lpstr>
      <vt:lpstr>Zmiana Price-to-Income między maksimum a minimum – wykres słupkowy</vt:lpstr>
      <vt:lpstr>Wykres punktowy – wartość zmiany względem aktualnej wartości</vt:lpstr>
      <vt:lpstr>Wykresy liniowe dla Polski</vt:lpstr>
      <vt:lpstr>Wnioski</vt:lpstr>
      <vt:lpstr>Quarterly government debt (Kwartalny dług publiczny)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Machowski Jan (STUD)</dc:creator>
  <cp:lastModifiedBy>Machowski Jan (STUD)</cp:lastModifiedBy>
  <cp:revision>11</cp:revision>
  <dcterms:created xsi:type="dcterms:W3CDTF">2026-03-09T14:52:10Z</dcterms:created>
  <dcterms:modified xsi:type="dcterms:W3CDTF">2026-03-16T14:11:16Z</dcterms:modified>
</cp:coreProperties>
</file>